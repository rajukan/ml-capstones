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10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9839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2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Diabetes Prediction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Models vs. Logistic Regression Baseline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231136"/>
            <a:ext cx="41148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Replicating a research paper·  Extending with Soft Voting, Bagging &amp; Stacking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192024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records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15184" y="3017520"/>
            <a:ext cx="192024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15184" y="3017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features + Glucose_Age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81728" y="3017520"/>
            <a:ext cx="192024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81728" y="3017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seed=42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48272" y="3017520"/>
            <a:ext cx="192024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48272" y="3017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threshold=0.35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DSC680-T302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75488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9966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EDA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27101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768-record Pima dataset · zero imputation · skewness · class imbalance · Glucose_Age feature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618488"/>
            <a:ext cx="8229600" cy="9144"/>
          </a:xfrm>
          <a:prstGeom prst="rect">
            <a:avLst/>
          </a:prstGeom>
          <a:solidFill>
            <a:srgbClr val="C8E4E6"/>
          </a:solidFill>
          <a:ln w="12700">
            <a:solidFill>
              <a:srgbClr val="C8E4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755648"/>
            <a:ext cx="475488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755648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7922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06654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LR (paper Logistic Regression) replication · Decision Tree validator · RobustScaler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414016"/>
            <a:ext cx="8229600" cy="9144"/>
          </a:xfrm>
          <a:prstGeom prst="rect">
            <a:avLst/>
          </a:prstGeom>
          <a:solidFill>
            <a:srgbClr val="C8E4E6"/>
          </a:solidFill>
          <a:ln w="12700">
            <a:solidFill>
              <a:srgbClr val="C8E4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551176"/>
            <a:ext cx="475488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551176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5877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286207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Voting (7 heterogeneous models) · Bagging (100 DTs) · Stacking (meta-LR)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209544"/>
            <a:ext cx="8229600" cy="9144"/>
          </a:xfrm>
          <a:prstGeom prst="rect">
            <a:avLst/>
          </a:prstGeom>
          <a:solidFill>
            <a:srgbClr val="C8E4E6"/>
          </a:solidFill>
          <a:ln w="12700">
            <a:solidFill>
              <a:srgbClr val="C8E4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346704"/>
            <a:ext cx="475488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346704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3832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365760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AUPRC primary · Recall 30% · Precision 20% · Calibration (MCE) · threshold=0.35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005072"/>
            <a:ext cx="8229600" cy="9144"/>
          </a:xfrm>
          <a:prstGeom prst="rect">
            <a:avLst/>
          </a:prstGeom>
          <a:solidFill>
            <a:srgbClr val="C8E4E6"/>
          </a:solidFill>
          <a:ln w="12700">
            <a:solidFill>
              <a:srgbClr val="C8E4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4142232"/>
            <a:ext cx="475488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4142232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41788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Winner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7280" y="44531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wins clinical score · CV-test aligned · serialized → Streamlit serving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AA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DSC680-T302  ·  Pima Indian Diabetes Dataset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2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27432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042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73152" cy="1645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13232" y="141732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EDA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232" y="245059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 Indian dataset · zero imputation · skewness · class imbalance · feature engineering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DSC680-T302  ·  Pima Indian Diabetes Dataset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768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6642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42032" y="91440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42032" y="98755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542032" y="16642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features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26864" y="91440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26864" y="98755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626864" y="16642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class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(diabetic)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11696" y="91440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711696" y="98755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711696" y="16642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 with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implausible zeros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4114800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2386584"/>
            <a:ext cx="54864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" y="2459736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Zero-value risk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" y="2807208"/>
            <a:ext cx="3877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Glucose, BloodPressure, SkinThickness, Insulin, BMI contain biologically implausible zeros — de facto missing values. Models trained on raw zeros learn incorrect patterns (e.g. "low glucose = no diabetes").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9744" y="2331720"/>
            <a:ext cx="4114800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09744" y="2386584"/>
            <a:ext cx="54864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74336" y="2459736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median imputation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74336" y="2807208"/>
            <a:ext cx="3877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Zeros replaced with per-column training medians. Fit on X_train only — no leakage to test. Imputation applied before Glucose_Age engineering.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566160"/>
            <a:ext cx="4114800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3621024"/>
            <a:ext cx="54864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1792" y="3694176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" y="4041648"/>
            <a:ext cx="3877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non-diabetic (65.1%) vs 268 diabetic (34.9%). Accuracy is misleading as a primary metric. AUPRC and Recall prioritized throughout.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09744" y="3566160"/>
            <a:ext cx="4114800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809744" y="3621024"/>
            <a:ext cx="54864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74336" y="3694176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Glucose_Age feature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74336" y="4041648"/>
            <a:ext cx="3877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after imputation: Glucose × Age. Captures the clinical insight that glucose is more predictive in older patients. RF ranks it #2 by importance.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AA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DSC680-T302  ·  Pima Indian Diabetes Dataset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Key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11480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14984"/>
            <a:ext cx="54864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088136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(quantified)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" y="1435608"/>
            <a:ext cx="3877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2.27 · DiabetesPedigreeFunction 1.92 (highly right-skewed). BMI −1.84 · BloodPressure −1.84 (left-skewed). Glucose 0.17 ≈ symmetric.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09744" y="960120"/>
            <a:ext cx="411480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809744" y="1014984"/>
            <a:ext cx="54864" cy="1097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74336" y="1088136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RobustScaler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74336" y="1435608"/>
            <a:ext cx="3877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in Insulin / SkinThickness make StandardScaler unreliable. RobustScaler uses median + IQR — resistant to extremes. Fit on training split only.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295144"/>
            <a:ext cx="411480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350008"/>
            <a:ext cx="54864" cy="1097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" y="2423160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insights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" y="2770632"/>
            <a:ext cx="3877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Pregnancies ↔ Age correlated. Glucose has the strongest direct impact on Outcome. DPF moderately correlated. BP and SkinThickness weakly correlated.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09744" y="2295144"/>
            <a:ext cx="411480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09744" y="2350008"/>
            <a:ext cx="54864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74336" y="2423160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× Age scatter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74336" y="2770632"/>
            <a:ext cx="3877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patients (red) cluster in top-right: high Glucose + older Age. Risk increases sharply above the clinical threshold of ~140 mg/dL.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630168"/>
            <a:ext cx="411480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685032"/>
            <a:ext cx="54864" cy="1097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1792" y="3758184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feature importance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" y="4105656"/>
            <a:ext cx="3877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6: Glucose (0.239) · Glucose_Age (0.175) · BMI (0.139) · DPF · Age · Pregnancies. Validates the paper's 5 predictor selection.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09744" y="3630168"/>
            <a:ext cx="411480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09744" y="3685032"/>
            <a:ext cx="54864" cy="1097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74336" y="3758184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order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74336" y="4105656"/>
            <a:ext cx="3877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impute → engineer Glucose_Age → split → scale. Reversing steps causes data leakage or incorrect interaction term calculations.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AA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DSC680-T302  ·  Pima Indian Diabetes Dataset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2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27432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042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73152" cy="1645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13232" y="141732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Models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232" y="245059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LR </a:t>
            </a:r>
            <a:r>
              <a:rPr lang="en-US" sz="140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 </a:t>
            </a:r>
            <a:r>
              <a:rPr lang="en-US" sz="1400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Decision Tree validator · design choices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DSC680-T302  ·  Pima Indian Diabetes Dataset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LR Baseline — Actual 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1508760" cy="1115568"/>
          </a:xfrm>
          <a:prstGeom prst="roundRect">
            <a:avLst>
              <a:gd name="adj" fmla="val 655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69264"/>
            <a:ext cx="1508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76.2%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361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121408" y="896112"/>
            <a:ext cx="1508760" cy="1115568"/>
          </a:xfrm>
          <a:prstGeom prst="roundRect">
            <a:avLst>
              <a:gd name="adj" fmla="val 655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121408" y="969264"/>
            <a:ext cx="1508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64.8%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121408" y="15361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785616" y="896112"/>
            <a:ext cx="1508760" cy="1115568"/>
          </a:xfrm>
          <a:prstGeom prst="roundRect">
            <a:avLst>
              <a:gd name="adj" fmla="val 655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785616" y="969264"/>
            <a:ext cx="1508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70.4%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785616" y="15361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49824" y="896112"/>
            <a:ext cx="1508760" cy="1115568"/>
          </a:xfrm>
          <a:prstGeom prst="roundRect">
            <a:avLst>
              <a:gd name="adj" fmla="val 655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49824" y="969264"/>
            <a:ext cx="1508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0.717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449824" y="15361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AUPRC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114032" y="896112"/>
            <a:ext cx="1508760" cy="1115568"/>
          </a:xfrm>
          <a:prstGeom prst="roundRect">
            <a:avLst>
              <a:gd name="adj" fmla="val 655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14032" y="969264"/>
            <a:ext cx="1508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0.839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114032" y="15361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212848"/>
            <a:ext cx="2706624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2267712"/>
            <a:ext cx="54864" cy="9692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1792" y="234086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params (GridSearchCV)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" y="268833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C=0.1 · penalty=l2 · solver=lbfgs · class_weight=None · cv=5 · scoring=average_precision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10128" y="2212848"/>
            <a:ext cx="2706624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310128" y="2267712"/>
            <a:ext cx="54864" cy="9692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74720" y="234086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0.35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74720" y="268833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0.5 → wrong for screening. At 0.35: higher recall (catch more diabetics) at cost of more false alarms. Clinical tradeoff: acceptable.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63056" y="2212848"/>
            <a:ext cx="2706624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63056" y="2267712"/>
            <a:ext cx="54864" cy="9692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27648" y="234086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features used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27648" y="268833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Paper's 5 predictors (Pregnancies, Glucose, BMI, DPF, Age) + Glucose_Age interaction. RobustScaler fit on training data only.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3401568"/>
            <a:ext cx="2706624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" y="3456432"/>
            <a:ext cx="54864" cy="9692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1792" y="352958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Validator (5 features)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1792" y="387705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5 predictors, no scaling (scale-invariant). max_depth=5, balanced weights. Test Recall 79.0% vs LR 70.4% — higher recall, lower precision.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310128" y="3401568"/>
            <a:ext cx="2706624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310128" y="3456432"/>
            <a:ext cx="54864" cy="9692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474720" y="352958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MCE = 0.083 (LR)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474720" y="387705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Fairly well-calibrated (&lt; 0.10 threshold). Sigmoid (Platt) post-calibration applied. LR naturally produces near-sigmoid outputs.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63056" y="3401568"/>
            <a:ext cx="2706624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163056" y="3456432"/>
            <a:ext cx="54864" cy="9692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327648" y="352958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→ Test alignment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327648" y="387705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Accuracy 75% → Test 76.2%. No overfitting signal. Stratified 5-fold preserves class ratio across splits.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AA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DSC680-T302  ·  Pima Indian Diabetes Dataset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2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27432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042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73152" cy="1645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13232" y="141732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Ensemble Methods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232" y="245059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Voting · Bagging · Stacking — three strategies, one goal: improve clinical recall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DSC680-T302  ·  Pima Indian Diabetes Dataset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2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Ensembles Over Single Models?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1188720"/>
          </a:xfrm>
          <a:prstGeom prst="roundRect">
            <a:avLst>
              <a:gd name="adj" fmla="val 5385"/>
            </a:avLst>
          </a:prstGeom>
          <a:solidFill>
            <a:srgbClr val="052830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54864" cy="10789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1155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Bias-Variance Tradeoff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" y="146304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LR = high bias (underfitting). Single DT = high variance (Train=1.000 observed). Ensembles reduce one without inflating the other.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09744" y="1005840"/>
            <a:ext cx="4114800" cy="1188720"/>
          </a:xfrm>
          <a:prstGeom prst="roundRect">
            <a:avLst>
              <a:gd name="adj" fmla="val 5385"/>
            </a:avLst>
          </a:prstGeom>
          <a:solidFill>
            <a:srgbClr val="052830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809744" y="1060704"/>
            <a:ext cx="54864" cy="10789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74336" y="11155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reduction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74336" y="146304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averages 100 DTs trained on bootstrap samples → random errors cancel out → stable predictions.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322576"/>
            <a:ext cx="4114800" cy="1188720"/>
          </a:xfrm>
          <a:prstGeom prst="roundRect">
            <a:avLst>
              <a:gd name="adj" fmla="val 5385"/>
            </a:avLst>
          </a:prstGeom>
          <a:solidFill>
            <a:srgbClr val="052830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54864" cy="10789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" y="243230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reduction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" y="2779776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uses a meta-LR to learn optimal combination of diverse base learners → captures patterns no single model can.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9744" y="2322576"/>
            <a:ext cx="4114800" cy="1188720"/>
          </a:xfrm>
          <a:prstGeom prst="roundRect">
            <a:avLst>
              <a:gd name="adj" fmla="val 5385"/>
            </a:avLst>
          </a:prstGeom>
          <a:solidFill>
            <a:srgbClr val="052830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09744" y="2377440"/>
            <a:ext cx="54864" cy="10789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74336" y="243230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principle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74336" y="2779776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Voting uses 7 heterogeneous models: 2 tree-based (RF, GB) + 5 non-tree (LR, SVM-RBF, KNN, NB, MLP). Uncorrelated errors.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639312"/>
            <a:ext cx="4114800" cy="1188720"/>
          </a:xfrm>
          <a:prstGeom prst="roundRect">
            <a:avLst>
              <a:gd name="adj" fmla="val 5385"/>
            </a:avLst>
          </a:prstGeom>
          <a:solidFill>
            <a:srgbClr val="052830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694176"/>
            <a:ext cx="54864" cy="10789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1792" y="37490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probabilities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" y="409651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voting averages predict_proba (not hard labels) → AUPRC and ROC-AUC are computable → better threshold tuning.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9744" y="3639312"/>
            <a:ext cx="4114800" cy="1188720"/>
          </a:xfrm>
          <a:prstGeom prst="roundRect">
            <a:avLst>
              <a:gd name="adj" fmla="val 5385"/>
            </a:avLst>
          </a:prstGeom>
          <a:solidFill>
            <a:srgbClr val="052830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09744" y="3694176"/>
            <a:ext cx="54864" cy="10789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74336" y="37490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motivation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74336" y="409651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 diabetic (false negative) costs more than a false alarm. Ensembles with recall focus reduce the more dangerous error.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AA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DSC680-T302  ·  Ensemble theory: bias-variance tradeoff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Ensemble Strategies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2706624" cy="566928"/>
          </a:xfrm>
          <a:prstGeom prst="roundRect">
            <a:avLst>
              <a:gd name="adj" fmla="val 1129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 Voting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115214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26464"/>
            <a:ext cx="2706624" cy="3547872"/>
          </a:xfrm>
          <a:prstGeom prst="roundRect">
            <a:avLst>
              <a:gd name="adj" fmla="val 2365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54864" cy="34381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" y="1554480"/>
            <a:ext cx="23957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base learners: LR, SVM-RBF, KNN,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Bayes, MLP, GB, Random Forest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1792" y="2395728"/>
            <a:ext cx="23957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 sklearn Pipeline with embedded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(no leakage)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1792" y="3236976"/>
            <a:ext cx="23957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 averaged — not hard votes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AUPRC / ROC-AUC computable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1792" y="4078224"/>
            <a:ext cx="23957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per learner,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= average_precision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10128" y="822960"/>
            <a:ext cx="2706624" cy="566928"/>
          </a:xfrm>
          <a:prstGeom prst="roundRect">
            <a:avLst>
              <a:gd name="adj" fmla="val 1129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19856" y="82296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Bagging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19856" y="115214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10128" y="1426464"/>
            <a:ext cx="2706624" cy="3547872"/>
          </a:xfrm>
          <a:prstGeom prst="roundRect">
            <a:avLst>
              <a:gd name="adj" fmla="val 2365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310128" y="1481328"/>
            <a:ext cx="54864" cy="343814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74720" y="1554480"/>
            <a:ext cx="23957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DecisionTree copies on bootstrap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(with replacement)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74720" y="2395728"/>
            <a:ext cx="23957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Tuned: n_estimators=200, max_samples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=0.5, max_features=0.75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74720" y="3236976"/>
            <a:ext cx="23957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variance of single overfit DT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(Train=1.000 → stabilized)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74720" y="4078224"/>
            <a:ext cx="23957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scaling required — DTs are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scale-invariant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63056" y="822960"/>
            <a:ext cx="2706624" cy="566928"/>
          </a:xfrm>
          <a:prstGeom prst="roundRect">
            <a:avLst>
              <a:gd name="adj" fmla="val 1129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72784" y="82296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272784" y="115214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63056" y="1426464"/>
            <a:ext cx="2706624" cy="3547872"/>
          </a:xfrm>
          <a:prstGeom prst="roundRect">
            <a:avLst>
              <a:gd name="adj" fmla="val 2365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63056" y="1481328"/>
            <a:ext cx="54864" cy="343814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27648" y="1554480"/>
            <a:ext cx="23957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tune each base learner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via HalvingGridSearchCV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27648" y="2395728"/>
            <a:ext cx="23957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freeze base learner weights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assembling the stack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27648" y="3236976"/>
            <a:ext cx="23957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meta-LR tuned on C=[0.01–10]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= average_precision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27648" y="4078224"/>
            <a:ext cx="23957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HalvingGridSearchCV chosen over full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— time constraints on CV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AA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DSC680-T302  ·  Pima Indian Diabetes Dataset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32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27432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042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73152" cy="1645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13232" y="141732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Framework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232" y="245059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AUPRC (50%) · Recall (30%) · Precision (20%) · Calibration · threshold=0.35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DSC680-T302  ·  Pima Indian Diabetes Dataset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Metrics?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914400" cy="1115568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4241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0934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AUPRC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508760" y="932688"/>
            <a:ext cx="3474720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08760" y="987552"/>
            <a:ext cx="54864" cy="1005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73352" y="1060704"/>
            <a:ext cx="3163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imbalanced data. Ignores true negatives — forces focus on minority class. AUPRC=0.70 means 70% better than random at ranking high-risk patients. Used as both tuning score and primary evaluation metric.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914400" cy="1115568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30428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287121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508760" y="2194560"/>
            <a:ext cx="3474720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508760" y="2249424"/>
            <a:ext cx="54864" cy="1005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673352" y="2322576"/>
            <a:ext cx="3163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 diabetic (false negative) is costlier than a false alarm (false positive). Recall = TP / (TP + FN). Prioritizing recall ensures high-risk patients are caught even if some healthy patients are flagged.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914400" cy="1115568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56616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7200" y="4133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508760" y="3456432"/>
            <a:ext cx="3474720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508760" y="3511296"/>
            <a:ext cx="54864" cy="1005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673352" y="3584448"/>
            <a:ext cx="3163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false positives waste clinical resources and erode trust. Balances recall in the weighted clinical score. Precision = TP / (TP + FP).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20640" y="932688"/>
            <a:ext cx="3566160" cy="166420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120640" y="987552"/>
            <a:ext cx="54864" cy="1554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285232" y="1060704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0.35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85232" y="1408176"/>
            <a:ext cx="332841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0.5 optimizes accuracy — wrong for screening. At 0.35: recall improves while precision drops slightly. Clinical context: doctor follow-up is cheaper than a missed diagnosis.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120640" y="2761488"/>
            <a:ext cx="3566160" cy="166420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120640" y="2816352"/>
            <a:ext cx="54864" cy="1554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285232" y="2889504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(MCE gate)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85232" y="3236976"/>
            <a:ext cx="332841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diagrams for all 4 models. Gate = MCE &gt; 0.05.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LR: MCE 0.083 (sigmoid calibration applied)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Soft Voting: MCE highest — averaging 7 uncalibrated outputs compounds error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Bagging: best calibration after isotonic correction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AA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DSC680-T302  ·  Pima Indian Diabetes Dataset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32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27432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042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73152" cy="1645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13232" y="141732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Model Selection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232" y="245059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CV and test metrics · CV-test alignment · clinical scoring · winner · deployment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DSC680-T302  ·  Pima Indian Diabetes Dataset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32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 — Actual 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664208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40280" y="868680"/>
            <a:ext cx="1097280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0" y="868680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868680"/>
            <a:ext cx="1005840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868680"/>
            <a:ext cx="932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26280" y="868680"/>
            <a:ext cx="1005840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0" y="868680"/>
            <a:ext cx="932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32120" y="868680"/>
            <a:ext cx="914400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577840" y="868680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868680"/>
            <a:ext cx="1005840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29400" y="868680"/>
            <a:ext cx="932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635240" y="868680"/>
            <a:ext cx="1051560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80960" y="868680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AUPRC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1316736"/>
            <a:ext cx="1664208" cy="512064"/>
          </a:xfrm>
          <a:prstGeom prst="rect">
            <a:avLst/>
          </a:prstGeom>
          <a:solidFill>
            <a:srgbClr val="031E24"/>
          </a:solidFill>
          <a:ln w="12700">
            <a:solidFill>
              <a:srgbClr val="03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1316736"/>
            <a:ext cx="1591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LR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40280" y="1316736"/>
            <a:ext cx="1097280" cy="512064"/>
          </a:xfrm>
          <a:prstGeom prst="rect">
            <a:avLst/>
          </a:prstGeom>
          <a:solidFill>
            <a:srgbClr val="031E24"/>
          </a:solidFill>
          <a:ln w="12700">
            <a:solidFill>
              <a:srgbClr val="03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286000" y="1316736"/>
            <a:ext cx="1024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76.2%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29000" y="1316736"/>
            <a:ext cx="1005840" cy="512064"/>
          </a:xfrm>
          <a:prstGeom prst="rect">
            <a:avLst/>
          </a:prstGeom>
          <a:solidFill>
            <a:srgbClr val="031E24"/>
          </a:solidFill>
          <a:ln w="12700">
            <a:solidFill>
              <a:srgbClr val="03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74720" y="1316736"/>
            <a:ext cx="932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64.8%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26280" y="1316736"/>
            <a:ext cx="1005840" cy="512064"/>
          </a:xfrm>
          <a:prstGeom prst="rect">
            <a:avLst/>
          </a:prstGeom>
          <a:solidFill>
            <a:srgbClr val="031E24"/>
          </a:solidFill>
          <a:ln w="12700">
            <a:solidFill>
              <a:srgbClr val="03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0" y="1316736"/>
            <a:ext cx="932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70.4%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532120" y="1316736"/>
            <a:ext cx="914400" cy="512064"/>
          </a:xfrm>
          <a:prstGeom prst="rect">
            <a:avLst/>
          </a:prstGeom>
          <a:solidFill>
            <a:srgbClr val="031E24"/>
          </a:solidFill>
          <a:ln w="12700">
            <a:solidFill>
              <a:srgbClr val="03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577840" y="1316736"/>
            <a:ext cx="8412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0" y="1316736"/>
            <a:ext cx="1005840" cy="512064"/>
          </a:xfrm>
          <a:prstGeom prst="rect">
            <a:avLst/>
          </a:prstGeom>
          <a:solidFill>
            <a:srgbClr val="031E24"/>
          </a:solidFill>
          <a:ln w="12700">
            <a:solidFill>
              <a:srgbClr val="03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629400" y="1316736"/>
            <a:ext cx="932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0.839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635240" y="1316736"/>
            <a:ext cx="1051560" cy="512064"/>
          </a:xfrm>
          <a:prstGeom prst="rect">
            <a:avLst/>
          </a:prstGeom>
          <a:solidFill>
            <a:srgbClr val="031E24"/>
          </a:solidFill>
          <a:ln w="12700">
            <a:solidFill>
              <a:srgbClr val="03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680960" y="1316736"/>
            <a:ext cx="978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0.717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1847088"/>
            <a:ext cx="1664208" cy="512064"/>
          </a:xfrm>
          <a:prstGeom prst="rect">
            <a:avLst/>
          </a:prstGeom>
          <a:solidFill>
            <a:srgbClr val="041820"/>
          </a:solidFill>
          <a:ln w="12700">
            <a:solidFill>
              <a:srgbClr val="03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2920" y="1847088"/>
            <a:ext cx="1591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240280" y="1847088"/>
            <a:ext cx="1097280" cy="512064"/>
          </a:xfrm>
          <a:prstGeom prst="rect">
            <a:avLst/>
          </a:prstGeom>
          <a:solidFill>
            <a:srgbClr val="041820"/>
          </a:solidFill>
          <a:ln w="12700">
            <a:solidFill>
              <a:srgbClr val="03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286000" y="1847088"/>
            <a:ext cx="1024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71.4%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429000" y="1847088"/>
            <a:ext cx="1005840" cy="512064"/>
          </a:xfrm>
          <a:prstGeom prst="rect">
            <a:avLst/>
          </a:prstGeom>
          <a:solidFill>
            <a:srgbClr val="041820"/>
          </a:solidFill>
          <a:ln w="12700">
            <a:solidFill>
              <a:srgbClr val="03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474720" y="1847088"/>
            <a:ext cx="932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56.6%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26280" y="1847088"/>
            <a:ext cx="1005840" cy="512064"/>
          </a:xfrm>
          <a:prstGeom prst="rect">
            <a:avLst/>
          </a:prstGeom>
          <a:solidFill>
            <a:srgbClr val="041820"/>
          </a:solidFill>
          <a:ln w="12700">
            <a:solidFill>
              <a:srgbClr val="03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72000" y="1847088"/>
            <a:ext cx="932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79.0%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532120" y="1847088"/>
            <a:ext cx="914400" cy="512064"/>
          </a:xfrm>
          <a:prstGeom prst="rect">
            <a:avLst/>
          </a:prstGeom>
          <a:solidFill>
            <a:srgbClr val="041820"/>
          </a:solidFill>
          <a:ln w="12700">
            <a:solidFill>
              <a:srgbClr val="03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577840" y="1847088"/>
            <a:ext cx="8412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0.660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583680" y="1847088"/>
            <a:ext cx="1005840" cy="512064"/>
          </a:xfrm>
          <a:prstGeom prst="rect">
            <a:avLst/>
          </a:prstGeom>
          <a:solidFill>
            <a:srgbClr val="041820"/>
          </a:solidFill>
          <a:ln w="12700">
            <a:solidFill>
              <a:srgbClr val="03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629400" y="1847088"/>
            <a:ext cx="932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635240" y="1847088"/>
            <a:ext cx="1051560" cy="512064"/>
          </a:xfrm>
          <a:prstGeom prst="rect">
            <a:avLst/>
          </a:prstGeom>
          <a:solidFill>
            <a:srgbClr val="041820"/>
          </a:solidFill>
          <a:ln w="12700">
            <a:solidFill>
              <a:srgbClr val="03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680960" y="1847088"/>
            <a:ext cx="978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" y="2377440"/>
            <a:ext cx="1664208" cy="512064"/>
          </a:xfrm>
          <a:prstGeom prst="rect">
            <a:avLst/>
          </a:prstGeom>
          <a:solidFill>
            <a:srgbClr val="031E24"/>
          </a:solidFill>
          <a:ln w="12700">
            <a:solidFill>
              <a:srgbClr val="03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02920" y="2377440"/>
            <a:ext cx="1591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Voting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240280" y="2377440"/>
            <a:ext cx="1097280" cy="512064"/>
          </a:xfrm>
          <a:prstGeom prst="rect">
            <a:avLst/>
          </a:prstGeom>
          <a:solidFill>
            <a:srgbClr val="031E24"/>
          </a:solidFill>
          <a:ln w="12700">
            <a:solidFill>
              <a:srgbClr val="03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286000" y="2377440"/>
            <a:ext cx="1024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75.3%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429000" y="2377440"/>
            <a:ext cx="1005840" cy="512064"/>
          </a:xfrm>
          <a:prstGeom prst="rect">
            <a:avLst/>
          </a:prstGeom>
          <a:solidFill>
            <a:srgbClr val="031E24"/>
          </a:solidFill>
          <a:ln w="12700">
            <a:solidFill>
              <a:srgbClr val="03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474720" y="2377440"/>
            <a:ext cx="932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62.0%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526280" y="2377440"/>
            <a:ext cx="1005840" cy="512064"/>
          </a:xfrm>
          <a:prstGeom prst="rect">
            <a:avLst/>
          </a:prstGeom>
          <a:solidFill>
            <a:srgbClr val="031E24"/>
          </a:solidFill>
          <a:ln w="12700">
            <a:solidFill>
              <a:srgbClr val="03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572000" y="2377440"/>
            <a:ext cx="932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75.3%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532120" y="2377440"/>
            <a:ext cx="914400" cy="512064"/>
          </a:xfrm>
          <a:prstGeom prst="rect">
            <a:avLst/>
          </a:prstGeom>
          <a:solidFill>
            <a:srgbClr val="031E24"/>
          </a:solidFill>
          <a:ln w="12700">
            <a:solidFill>
              <a:srgbClr val="03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577840" y="2377440"/>
            <a:ext cx="8412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0.680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583680" y="2377440"/>
            <a:ext cx="1005840" cy="512064"/>
          </a:xfrm>
          <a:prstGeom prst="rect">
            <a:avLst/>
          </a:prstGeom>
          <a:solidFill>
            <a:srgbClr val="031E24"/>
          </a:solidFill>
          <a:ln w="12700">
            <a:solidFill>
              <a:srgbClr val="03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629400" y="2377440"/>
            <a:ext cx="932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0.854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7635240" y="2377440"/>
            <a:ext cx="1051560" cy="512064"/>
          </a:xfrm>
          <a:prstGeom prst="rect">
            <a:avLst/>
          </a:prstGeom>
          <a:solidFill>
            <a:srgbClr val="031E24"/>
          </a:solidFill>
          <a:ln w="12700">
            <a:solidFill>
              <a:srgbClr val="03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680960" y="2377440"/>
            <a:ext cx="978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0.728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57200" y="2907792"/>
            <a:ext cx="1664208" cy="512064"/>
          </a:xfrm>
          <a:prstGeom prst="rect">
            <a:avLst/>
          </a:prstGeom>
          <a:solidFill>
            <a:srgbClr val="062E3A"/>
          </a:solidFill>
          <a:ln w="12700">
            <a:solidFill>
              <a:srgbClr val="03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02920" y="2907792"/>
            <a:ext cx="1591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240280" y="2907792"/>
            <a:ext cx="1097280" cy="512064"/>
          </a:xfrm>
          <a:prstGeom prst="rect">
            <a:avLst/>
          </a:prstGeom>
          <a:solidFill>
            <a:srgbClr val="062E3A"/>
          </a:solidFill>
          <a:ln w="12700">
            <a:solidFill>
              <a:srgbClr val="03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2286000" y="2907792"/>
            <a:ext cx="1024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74.9%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3429000" y="2907792"/>
            <a:ext cx="1005840" cy="512064"/>
          </a:xfrm>
          <a:prstGeom prst="rect">
            <a:avLst/>
          </a:prstGeom>
          <a:solidFill>
            <a:srgbClr val="062E3A"/>
          </a:solidFill>
          <a:ln w="12700">
            <a:solidFill>
              <a:srgbClr val="03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474720" y="2907792"/>
            <a:ext cx="932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60.7%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4526280" y="2907792"/>
            <a:ext cx="1005840" cy="512064"/>
          </a:xfrm>
          <a:prstGeom prst="rect">
            <a:avLst/>
          </a:prstGeom>
          <a:solidFill>
            <a:srgbClr val="062E3A"/>
          </a:solidFill>
          <a:ln w="12700">
            <a:solidFill>
              <a:srgbClr val="03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572000" y="2907792"/>
            <a:ext cx="932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80.2%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5532120" y="2907792"/>
            <a:ext cx="914400" cy="512064"/>
          </a:xfrm>
          <a:prstGeom prst="rect">
            <a:avLst/>
          </a:prstGeom>
          <a:solidFill>
            <a:srgbClr val="062E3A"/>
          </a:solidFill>
          <a:ln w="12700">
            <a:solidFill>
              <a:srgbClr val="03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5577840" y="2907792"/>
            <a:ext cx="8412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0.691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583680" y="2907792"/>
            <a:ext cx="1005840" cy="512064"/>
          </a:xfrm>
          <a:prstGeom prst="rect">
            <a:avLst/>
          </a:prstGeom>
          <a:solidFill>
            <a:srgbClr val="062E3A"/>
          </a:solidFill>
          <a:ln w="12700">
            <a:solidFill>
              <a:srgbClr val="03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629400" y="2907792"/>
            <a:ext cx="932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0.832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7635240" y="2907792"/>
            <a:ext cx="1051560" cy="512064"/>
          </a:xfrm>
          <a:prstGeom prst="rect">
            <a:avLst/>
          </a:prstGeom>
          <a:solidFill>
            <a:srgbClr val="062E3A"/>
          </a:solidFill>
          <a:ln w="12700">
            <a:solidFill>
              <a:srgbClr val="03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7680960" y="2907792"/>
            <a:ext cx="978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0.710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8723376" y="2907792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4A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🏆 Winner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57200" y="2907792"/>
            <a:ext cx="45720" cy="5120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457200" y="3438144"/>
            <a:ext cx="1664208" cy="512064"/>
          </a:xfrm>
          <a:prstGeom prst="rect">
            <a:avLst/>
          </a:prstGeom>
          <a:solidFill>
            <a:srgbClr val="031E24"/>
          </a:solidFill>
          <a:ln w="12700">
            <a:solidFill>
              <a:srgbClr val="03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502920" y="3438144"/>
            <a:ext cx="1591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2240280" y="3438144"/>
            <a:ext cx="1097280" cy="512064"/>
          </a:xfrm>
          <a:prstGeom prst="rect">
            <a:avLst/>
          </a:prstGeom>
          <a:solidFill>
            <a:srgbClr val="031E24"/>
          </a:solidFill>
          <a:ln w="12700">
            <a:solidFill>
              <a:srgbClr val="03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2286000" y="3438144"/>
            <a:ext cx="1024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74.9%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3429000" y="3438144"/>
            <a:ext cx="1005840" cy="512064"/>
          </a:xfrm>
          <a:prstGeom prst="rect">
            <a:avLst/>
          </a:prstGeom>
          <a:solidFill>
            <a:srgbClr val="031E24"/>
          </a:solidFill>
          <a:ln w="12700">
            <a:solidFill>
              <a:srgbClr val="03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3474720" y="3438144"/>
            <a:ext cx="932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4526280" y="3438144"/>
            <a:ext cx="1005840" cy="512064"/>
          </a:xfrm>
          <a:prstGeom prst="rect">
            <a:avLst/>
          </a:prstGeom>
          <a:solidFill>
            <a:srgbClr val="031E24"/>
          </a:solidFill>
          <a:ln w="12700">
            <a:solidFill>
              <a:srgbClr val="03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4572000" y="3438144"/>
            <a:ext cx="932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5532120" y="3438144"/>
            <a:ext cx="914400" cy="512064"/>
          </a:xfrm>
          <a:prstGeom prst="rect">
            <a:avLst/>
          </a:prstGeom>
          <a:solidFill>
            <a:srgbClr val="031E24"/>
          </a:solidFill>
          <a:ln w="12700">
            <a:solidFill>
              <a:srgbClr val="03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5577840" y="3438144"/>
            <a:ext cx="8412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6583680" y="3438144"/>
            <a:ext cx="1005840" cy="512064"/>
          </a:xfrm>
          <a:prstGeom prst="rect">
            <a:avLst/>
          </a:prstGeom>
          <a:solidFill>
            <a:srgbClr val="031E24"/>
          </a:solidFill>
          <a:ln w="12700">
            <a:solidFill>
              <a:srgbClr val="03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6629400" y="3438144"/>
            <a:ext cx="932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7635240" y="3438144"/>
            <a:ext cx="1051560" cy="512064"/>
          </a:xfrm>
          <a:prstGeom prst="rect">
            <a:avLst/>
          </a:prstGeom>
          <a:solidFill>
            <a:srgbClr val="031E24"/>
          </a:solidFill>
          <a:ln w="12700">
            <a:solidFill>
              <a:srgbClr val="03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7680960" y="3438144"/>
            <a:ext cx="978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0.705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457200" y="480974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metrics (5-fold) shown for LR, DT, Soft Voting, Bagging, Stacking. Test set = 30% holdout. CV→Test alignment confirmed — no overfitting. threshold=0.35 for all.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32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Model Selection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658368"/>
          </a:xfrm>
          <a:prstGeom prst="roundRect">
            <a:avLst>
              <a:gd name="adj" fmla="val 9722"/>
            </a:avLst>
          </a:prstGeom>
          <a:solidFill>
            <a:srgbClr val="0528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54864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94944" y="89611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Score  =  0.50 × AUPRC  +  0.30 × Recall  +  0.20 × Precision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2706624" cy="2468880"/>
          </a:xfrm>
          <a:prstGeom prst="roundRect">
            <a:avLst>
              <a:gd name="adj" fmla="val 2963"/>
            </a:avLst>
          </a:prstGeom>
          <a:solidFill>
            <a:srgbClr val="052830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54864" cy="2359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" y="173736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 Voting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" y="2157984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B2E4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0.728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621792" y="294436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AUPRC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" y="3346704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AUPRC but MCE highest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needs calibration before deploy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10128" y="1664208"/>
            <a:ext cx="2706624" cy="2468880"/>
          </a:xfrm>
          <a:prstGeom prst="roundRect">
            <a:avLst>
              <a:gd name="adj" fmla="val 2963"/>
            </a:avLst>
          </a:prstGeom>
          <a:solidFill>
            <a:srgbClr val="052830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310128" y="1719072"/>
            <a:ext cx="54864" cy="2359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0" y="173736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Bagging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2157984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B2E4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80.2%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3474720" y="294436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3346704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recall · lowest MCE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strongest clinical score → 🏆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63056" y="1664208"/>
            <a:ext cx="2706624" cy="2468880"/>
          </a:xfrm>
          <a:prstGeom prst="roundRect">
            <a:avLst>
              <a:gd name="adj" fmla="val 2963"/>
            </a:avLst>
          </a:prstGeom>
          <a:solidFill>
            <a:srgbClr val="052830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63056" y="1719072"/>
            <a:ext cx="54864" cy="2359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27648" y="173736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27648" y="2157984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B2E4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0.705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6327648" y="294436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AUPRC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27648" y="3346704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complexity, marginal gain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Bagging in clinical score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279392"/>
            <a:ext cx="8229600" cy="658368"/>
          </a:xfrm>
          <a:prstGeom prst="roundRect">
            <a:avLst>
              <a:gd name="adj" fmla="val 9722"/>
            </a:avLst>
          </a:prstGeom>
          <a:solidFill>
            <a:srgbClr val="062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4334256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Winner: Bagging Ensemble  ·  Best recall (80.2%) · best calibration (lowest MCE) · strongest clinical score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AA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Saved: models/bagging_ensembles.pkl · Served via: python -m streamlit run diabetic_serving.py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32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&amp; 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114800" cy="1645920"/>
          </a:xfrm>
          <a:prstGeom prst="roundRect">
            <a:avLst>
              <a:gd name="adj" fmla="val 3889"/>
            </a:avLst>
          </a:prstGeom>
          <a:solidFill>
            <a:srgbClr val="052830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14984"/>
            <a:ext cx="54864" cy="15361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10698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Threshold 0.35 worked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1453896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→ Test aligned with no overfitting detected. Prioritizing recall is clinically justified for screening. All ensembles vs baseline showed improved recall.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9744" y="960120"/>
            <a:ext cx="4114800" cy="1645920"/>
          </a:xfrm>
          <a:prstGeom prst="roundRect">
            <a:avLst>
              <a:gd name="adj" fmla="val 3889"/>
            </a:avLst>
          </a:prstGeom>
          <a:solidFill>
            <a:srgbClr val="052830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09744" y="1014984"/>
            <a:ext cx="54864" cy="15361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74336" y="10698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Bagging beat the LR baseline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74336" y="1453896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80.2% recall vs 70.4% for LR. Best calibration (lowest MCE post-isotonic correction). Strongest composite clinical score (0.5×AUPRC + 0.3×Recall + 0.2×Precision).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4114800" cy="1645920"/>
          </a:xfrm>
          <a:prstGeom prst="roundRect">
            <a:avLst>
              <a:gd name="adj" fmla="val 3889"/>
            </a:avLst>
          </a:prstGeom>
          <a:solidFill>
            <a:srgbClr val="052830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798064"/>
            <a:ext cx="54864" cy="1536192"/>
          </a:xfrm>
          <a:prstGeom prst="rect">
            <a:avLst/>
          </a:prstGeom>
          <a:solidFill>
            <a:srgbClr val="F4A629"/>
          </a:solidFill>
          <a:ln w="12700">
            <a:solidFill>
              <a:srgbClr val="F4A6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" y="28529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Calibration gap remains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" y="3236976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models flagged MCE &gt; 0.05 before correction. Soft Voting worst — averaging 7 uncalibrated predict_proba outputs compounds error. Post-hoc calibration required before clinical deployment.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9744" y="2743200"/>
            <a:ext cx="4114800" cy="1645920"/>
          </a:xfrm>
          <a:prstGeom prst="roundRect">
            <a:avLst>
              <a:gd name="adj" fmla="val 3889"/>
            </a:avLst>
          </a:prstGeom>
          <a:solidFill>
            <a:srgbClr val="052830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09744" y="2798064"/>
            <a:ext cx="54864" cy="15361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74336" y="28529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Feature engineering validated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74336" y="3236976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Glucose_Age (RF rank #2, 0.175 importance) outperformed BloodPressure and SkinThickness. Engineering order matters: impute → engineer → split → scale.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replicate pipeline on VertexMD dataset (Mendeley DOI: 10.17632/nxnty5g7y6.3) for cross-dataset validation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1777</Words>
  <Application>Microsoft Office PowerPoint</Application>
  <PresentationFormat>On-screen Show (16:9)</PresentationFormat>
  <Paragraphs>265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Diabetes Prediction — Ensemble Capstone</dc:title>
  <dc:subject>PptxGenJS Presentation</dc:subject>
  <dc:creator>Gyan</dc:creator>
  <cp:lastModifiedBy>gyan kannur</cp:lastModifiedBy>
  <cp:revision>3</cp:revision>
  <dcterms:created xsi:type="dcterms:W3CDTF">2026-06-13T14:33:19Z</dcterms:created>
  <dcterms:modified xsi:type="dcterms:W3CDTF">2026-06-15T13:42:01Z</dcterms:modified>
</cp:coreProperties>
</file>