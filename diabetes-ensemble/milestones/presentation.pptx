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9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11422"/>
          </a:solidFill>
          <a:ln w="12700">
            <a:solidFill>
              <a:srgbClr val="0114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Prediction: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Models vs. LR Baseline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Joshi &amp; Dhakal (2021) · Extending with Soft Voting, Bagging &amp; Stacking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 dataset · 768 records · 9 features after engineering · seed=42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622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4747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069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30759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dataset · zero imputation · class imbalance · feature engineering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34747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19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LR replication · Decision Tree validator · RobustScaler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34747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0720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(7 models) · Bagging (100 DTs) · Stacking (meta-LR)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34747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300984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55701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· Recall · PR curves · Confusion matrices · Calibration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50792"/>
            <a:ext cx="34747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050792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Winner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30682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clinical score · Best model selection · Model serving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A3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EDA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 Diabetes Dataset · Zero imputation · Class imbalance · Feature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1792" y="115214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records · 9 features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572768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original + Glucose_Age interaction term added post-imputation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11226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532888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non-diabetic (65%) vs 268 diabetic (35%) — accuracy misleading as primary metric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307238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values as missing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3493008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BloodPressure, SkinThickness, Insulin, BMI contain biologically implausible zeros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403250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median imputation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4453128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replaced with per-column medians fitted on training split only (no leakage)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28032" y="1152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19110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22494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BloodPressure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SkinThickness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3264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3602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DiabetesPedigreeFunction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4279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Glucose_Age (engineered)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top RF importance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1792" y="115214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572768"/>
            <a:ext cx="3648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(2.27) and DiabetesPedigreeFunction (1.92) are heavily right-skewed. BMI and BloodPressure are left-skewed. Glucose is near-symmetric (0.17).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22576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46888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chosen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889504"/>
            <a:ext cx="3648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 Insulin/SkinThickness make StandardScaler unsuitable. RobustScaler uses median/IQR — less sensitive to extremes.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639312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3785616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× Age interaction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4206240"/>
            <a:ext cx="3648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Glucose + older Age → higher diabetes risk. Red cluster in top-right of scatter plot. Risk increases sharply above 140 mg/dL (clinical threshold).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10912" y="115214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1572768"/>
            <a:ext cx="3648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and Age correlated. Glucose is the single strongest predictor of Outcome. Engineered Glucose_Age term captures non-linear interaction.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322576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10912" y="246888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(RF)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10912" y="2889504"/>
            <a:ext cx="3648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confirms paper's top 5: Glucose, BMI, Age, DiabetesPedigreeFunction, Pregnancies. Glucose_Age ranks in top 3.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639312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3785616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order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4206240"/>
            <a:ext cx="3648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zeros → engineer Glucose_Age → split → scale. Correct order prevents data leakage.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A3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Models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LR replication (Joshi &amp; Dhakal 2021) · Decision Tree validator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Baseline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0A3A5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8E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76.2%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42032" y="96012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0A3A5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33472" y="1143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8E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0.35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633472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96012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0A3A5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18304" y="1143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8E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~0.70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718304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(class 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11696" y="96012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0A3A5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03136" y="1143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8E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l2/lbfgs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803136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30098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0.35 (not 0.5)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3721608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screening prioritizes recall. Lower threshold catches more diabetic patients at cost of more false positives. Justifiable for screening.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1546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330098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tuning_score = average_precision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721608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as hyperparameter objective. Designed for imbalanced data — ignores true negatives, forces focus on minority class ranking.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426110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4681728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5 predictors + Glucose_Age interaction. Scaled with RobustScaler fit on training data only.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411480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10912" y="426110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validator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10912" y="4681728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features, no scaling (DTs are scale-invariant). Tree depth/leaf size tuned for generalization. Confirms LR feature rankings.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A3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· Bagging · Stacking — three strategies, one goal: beat LR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Ensembles Over Single Models?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0A2F4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1792" y="115214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572768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LR = high bias (underfitting). Single DT = high variance (overfitting; Train=1.000 observed). Ensembles balance both by combining multiple learners.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04288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0A2F4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450592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 (Bagging)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871216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sampling + averaging reduces variance from a single overfit tree. 100 DT copies smooth out noise.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602736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0A2F4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374904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Reduction (Stacking)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4169664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 learns optimal weights for combining diverse base models. Captures patterns no single model can.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0A2F4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10912" y="115214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(Soft Voting)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1572768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heterogeneous models: 2 tree-based, 5 non-tree (LR, SVM, KNN, NB, MLP). Linear + non-linear → less correlated errors.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304288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0A2F4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10912" y="2450592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→ probabilities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10912" y="2871216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predict_proba scores (not hard labels) allows AUPRC/ROC computation. Requires diverse, calibrated base learners.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602736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0A2F4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374904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justification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4169664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diabetes screening, missing a case (false negative) is costlier than a false alarm. Ensembles with recall focus reduce clinical risk.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Ensemble Strategies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Voting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691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base models: LR, SVM-RBF, KNN, Naive Bayes, MLP, Gradient Boosting, Random Forest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24048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wrapped in sklearn Pipeline with embedded StandardScaler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311810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averaged (soft vote) — not majority hard vote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38313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per base learner · scoring = average_precision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517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Bagging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13258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691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 copies, each on bootstrap sample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24048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with replacement → different patients emphasized per tree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311810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Tuned: n_estimators, max_samples, max_features via GridSearchCV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38313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of single overfit DT (Train=1.000 → stabilized)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00584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005840"/>
            <a:ext cx="26517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26480" y="13258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44768" y="1691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tune each base learner independently with HalvingGridSearchCV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24048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freeze base learner weights before stacking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311810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meta-LR tuned on C=[0.01,0.1,1,10] · scoring = average_precision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44768" y="38313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HalvingGridSearchCV used (vs full grid) due to time constraints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A3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Framework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· Recall · Precision · Calibration · Threshold = 0.35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Metrics?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00200" y="10058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64792" y="1115568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Primary. Designed for imbalanced data. Ignores true negatives — forces focus on minority class. AUPRC=0.7 → 70% better than random at ranking high-risk patients.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8620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2267712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64792" y="237744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diabetic patient (FN) is costlier than a false alarm (FP). Recall = TP/(TP+FN). Clinical priority: catch everyone at risk, accept some false alarms.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6210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41239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3529584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64792" y="3639312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false positives waste clinical resources. Balances recall in the weighted score. Precision = TP/(TP+FP).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100584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39512" y="11521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0.35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9512" y="157276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 optimizes accuracy. Lowering to 0.35 shifts the operating point: higher recall (fewer missed diabetics), lower precision (more false alarms). Clinical screening accepts this tradeoff — doctor follow-up is low-cost relative to a missed diagnosis.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3090672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39512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(MCE &gt; 0.05 gate)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363931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diagrams compared for all models. Soft Voting MCE=0.108 (highest — averaging 7 uncalibrated outputs compounds error). Stacking MCE=0.091 (meta-LR partially corrects). All 4 models flagged &gt; 0.05 threshold.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A3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Model Selection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vs. test alignment · Clinical scoring · Winner ·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087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03120" y="1005840"/>
            <a:ext cx="10972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48840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1005840"/>
            <a:ext cx="10972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10972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005840"/>
            <a:ext cx="10972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1005840"/>
            <a:ext cx="10972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69480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463040"/>
            <a:ext cx="150876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1463040"/>
            <a:ext cx="109728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4884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0440" y="1463040"/>
            <a:ext cx="109728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6616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109728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1463040"/>
            <a:ext cx="109728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3504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1463040"/>
            <a:ext cx="109728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6948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1938528"/>
            <a:ext cx="150876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19385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03120" y="1938528"/>
            <a:ext cx="109728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148840" y="1938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520440" y="1938528"/>
            <a:ext cx="109728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66160" y="1938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1938528"/>
            <a:ext cx="109728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1938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89320" y="1938528"/>
            <a:ext cx="109728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35040" y="1938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23760" y="1938528"/>
            <a:ext cx="109728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69480" y="1938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2414016"/>
            <a:ext cx="1508760" cy="457200"/>
          </a:xfrm>
          <a:prstGeom prst="rect">
            <a:avLst/>
          </a:prstGeom>
          <a:solidFill>
            <a:srgbClr val="0A3A52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24140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03120" y="2414016"/>
            <a:ext cx="1097280" cy="457200"/>
          </a:xfrm>
          <a:prstGeom prst="rect">
            <a:avLst/>
          </a:prstGeom>
          <a:solidFill>
            <a:srgbClr val="0A3A52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148840" y="24140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520440" y="2414016"/>
            <a:ext cx="1097280" cy="457200"/>
          </a:xfrm>
          <a:prstGeom prst="rect">
            <a:avLst/>
          </a:prstGeom>
          <a:solidFill>
            <a:srgbClr val="0A3A52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66160" y="24140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~0.76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54880" y="2414016"/>
            <a:ext cx="1097280" cy="457200"/>
          </a:xfrm>
          <a:prstGeom prst="rect">
            <a:avLst/>
          </a:prstGeom>
          <a:solidFill>
            <a:srgbClr val="0A3A52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00600" y="24140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89320" y="2414016"/>
            <a:ext cx="1097280" cy="457200"/>
          </a:xfrm>
          <a:prstGeom prst="rect">
            <a:avLst/>
          </a:prstGeom>
          <a:solidFill>
            <a:srgbClr val="0A3A52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035040" y="24140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223760" y="2414016"/>
            <a:ext cx="1097280" cy="457200"/>
          </a:xfrm>
          <a:prstGeom prst="rect">
            <a:avLst/>
          </a:prstGeom>
          <a:solidFill>
            <a:srgbClr val="0A3A52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69480" y="24140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366760" y="24140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Best AUPRC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2889504"/>
            <a:ext cx="150876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920" y="28895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03120" y="2889504"/>
            <a:ext cx="109728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148840" y="28895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520440" y="2889504"/>
            <a:ext cx="109728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566160" y="28895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54880" y="2889504"/>
            <a:ext cx="109728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00600" y="28895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989320" y="2889504"/>
            <a:ext cx="109728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035040" y="28895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223760" y="2889504"/>
            <a:ext cx="1097280" cy="457200"/>
          </a:xfrm>
          <a:prstGeom prst="rect">
            <a:avLst/>
          </a:prstGeom>
          <a:solidFill>
            <a:srgbClr val="031220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269480" y="28895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~0.72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57200" y="3364992"/>
            <a:ext cx="150876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02920" y="33649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103120" y="3364992"/>
            <a:ext cx="109728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148840" y="33649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~77%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520440" y="3364992"/>
            <a:ext cx="109728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566160" y="33649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~0.75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754880" y="3364992"/>
            <a:ext cx="109728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00600" y="33649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989320" y="3364992"/>
            <a:ext cx="109728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035040" y="33649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223760" y="3364992"/>
            <a:ext cx="1097280" cy="457200"/>
          </a:xfrm>
          <a:prstGeom prst="rect">
            <a:avLst/>
          </a:prstGeom>
          <a:solidFill>
            <a:srgbClr val="051828"/>
          </a:solidFill>
          <a:ln w="12700">
            <a:solidFill>
              <a:srgbClr val="0A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269480" y="33649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~0.69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Approximate values — exact figures depend on random state and final CV run. Threshold=0.35 for all predictions.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Model Selection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A2F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Score  =  0.50 × AUPRC  +  0.30 × Recall  +  0.20 × Precision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A3A5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2494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E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Voting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0662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AUPRC (~0.76)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ranking score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A3A5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22494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E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Bagging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70662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(80%)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20% of diabetics missed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A3A5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22494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E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70662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MCE 0.091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probability calibration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09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Winner: Soft Voting Ensemble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weighted clinical score · AUPRC leads · CV vs test aligned (no overfitting) · Serialized with pickle → models/soft_voting_ensembles.pkl · Served via Streamlit (diabetic_serving.py)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11422"/>
          </a:solidFill>
          <a:ln w="12700">
            <a:solidFill>
              <a:srgbClr val="0114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0A2F4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15214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0.35 worked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3648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vs test alignment confirmed — no overfitting. Prioritizes recall for clinical screening.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0A2F4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10912" y="115214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beat baseline LR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10912" y="1572768"/>
            <a:ext cx="3648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improved AUPRC by ~4 pts. Bagging achieved highest recall (80%). Both justify the complexity.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0A2F4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414016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gap remains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2834640"/>
            <a:ext cx="3648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 flagged MCE &gt; 0.05. Post-hoc calibration (Platt scaling / isotonic regression) recommended before clinical deployment.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267712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0A2F4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10912" y="2414016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added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2834640"/>
            <a:ext cx="3648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Glucose_Age interaction term ranked in RF top-3. Justifies the post-imputation engineering order.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622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apply identical pipeline to VertexMD dataset (Mendeley DOI: 10.17632/nxnty5g7y6.3) for cross-dataset validation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1415</Words>
  <Application>Microsoft Office PowerPoint</Application>
  <PresentationFormat>On-screen Show (16:9)</PresentationFormat>
  <Paragraphs>210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- Ensemble Models</dc:title>
  <dc:subject>PptxGenJS Presentation</dc:subject>
  <dc:creator>Gyan</dc:creator>
  <cp:lastModifiedBy>gyan kannur</cp:lastModifiedBy>
  <cp:revision>1</cp:revision>
  <dcterms:created xsi:type="dcterms:W3CDTF">2026-06-12T10:41:32Z</dcterms:created>
  <dcterms:modified xsi:type="dcterms:W3CDTF">2026-06-12T14:05:57Z</dcterms:modified>
</cp:coreProperties>
</file>