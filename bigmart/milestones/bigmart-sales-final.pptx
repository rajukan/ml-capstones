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4572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280C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BigMart Sales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·  Anomaly Detection  ·  Business Insights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6576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0428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dual-notebook approach: accurate sales forecasting (Part 1) paired with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anomaly categories for business decision-support (Part 2).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1012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8,523 train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3472" y="3310128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2633472" y="331012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raw 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3310128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4718304" y="331012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PyOD detectors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3310128"/>
            <a:ext cx="1938528" cy="40233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803136" y="331012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business categories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Sales Prediction  ·  Part 2: PyOD Anomaly Detection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78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train_bigmart.csv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8,523 rows, 12 features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38528" y="1664208"/>
            <a:ext cx="146304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4832" y="100584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2084832" y="1078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Cleaning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84832" y="148132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 fix · fat label dedupe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 prefix extraction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0" y="1664208"/>
            <a:ext cx="146304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03904" y="100584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3803904" y="1078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03904" y="148132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 bin · calorie map · Glucose_Age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transforms · ANOVA selection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76672" y="1664208"/>
            <a:ext cx="146304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22976" y="100584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8B3A2C"/>
          </a:solidFill>
          <a:ln/>
        </p:spPr>
      </p:sp>
      <p:sp>
        <p:nvSpPr>
          <p:cNvPr id="16" name="Text 14"/>
          <p:cNvSpPr/>
          <p:nvPr/>
        </p:nvSpPr>
        <p:spPr>
          <a:xfrm>
            <a:off x="5522976" y="1078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Predict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22976" y="148132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tuned GBR ensemble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0.519 · R² 0.738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095744" y="1664208"/>
            <a:ext cx="146304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2048" y="1005840"/>
            <a:ext cx="1572768" cy="1417320"/>
          </a:xfrm>
          <a:prstGeom prst="roundRect">
            <a:avLst>
              <a:gd name="adj" fmla="val 5161"/>
            </a:avLst>
          </a:prstGeom>
          <a:solidFill>
            <a:srgbClr val="4A7C59"/>
          </a:solidFill>
          <a:ln/>
        </p:spPr>
      </p:sp>
      <p:sp>
        <p:nvSpPr>
          <p:cNvPr id="20" name="Text 18"/>
          <p:cNvSpPr/>
          <p:nvPr/>
        </p:nvSpPr>
        <p:spPr>
          <a:xfrm>
            <a:off x="7242048" y="10789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PyOD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42048" y="148132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detectors · 8 business categories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 anomalies, 83 high-confidence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688336"/>
            <a:ext cx="64008" cy="8961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752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Prediction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108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Item_Outlet_Sales (log-transformed). 5-fold CV + holdout evaluation. Bagging + tuned GBR wins (both methods agree). Predictions exported for the test set (5,681 rows, no negatives).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9744" y="2633472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9744" y="2688336"/>
            <a:ext cx="64008" cy="8961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2752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Discovery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92624" y="3108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discarding anomalies as noise, classify them into 8 interpretable business categories (High Price/Low Sales, Low Visibility/High Sales, etc.) with binomial segment testing.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803904"/>
            <a:ext cx="64008" cy="8961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867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preprocessed 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4224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train_precleaned.csv saved at the end of EDA — ensures both notebooks use identical imputed values with no re-processing drift or leakage between notebooks.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9744" y="374904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9744" y="3803904"/>
            <a:ext cx="64008" cy="8961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3867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92624" y="4224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Dual-perspective: Part 1 answers 'how much will this sell?' — Part 2 answers 'which products/outlets behave unexpectedly and why?'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BigMart Sales Project  ·  Prediction &amp; Anomaly Detection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Preprocessing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5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Item_Weight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42032" y="91440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2542032" y="9875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42032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Outlet_Size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864" y="91440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9875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26864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Item_Visibility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implausible zeros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11696" y="91440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6711696" y="9875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11696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label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cleaned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67712"/>
            <a:ext cx="64008" cy="7680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 as missing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688336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Item_Visibility = 0 is physically implausible on a shelf. Replaced with NaN and imputed via Item_Identifier group mean (training data only). IQR cap applied post-imputation.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9744" y="2212848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67712"/>
            <a:ext cx="64008" cy="7680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label deduplication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92624" y="2688336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'LF', 'low fat' → 'Low Fat'; 'reg' → 'Regular'. Non-consumables (NC prefix) assigned 'No Fat' — fat content is meaningless for household goods and health items.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55264"/>
            <a:ext cx="64008" cy="768096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319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Item_Identifier prefix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675888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two chars: FD=Food, DR=Drink, NC=Non-Consumable. Cleaner signal than the full 1,559-category Item_Identifier; used in both notebooks.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9744" y="3200400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9744" y="3255264"/>
            <a:ext cx="64008" cy="768096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3319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Outlet_Size unknown → Small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92624" y="3675888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outlets are all Grocery Store or Supermarket Type 1. Cross-tab + bar plots confirm same sales/visibility pattern as Small outlets. Imputed deterministically.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18795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242816"/>
            <a:ext cx="64008" cy="768096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Train-only imputation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663440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median/mean imputation fit on X_train only. X_test and df_test transform using X_train statistics. Group-level hierarchy: Item_Identifier → global mean safety net.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9744" y="418795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9744" y="4242816"/>
            <a:ext cx="64008" cy="768096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43068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Precleaned checkpoint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92624" y="4663440"/>
            <a:ext cx="3840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train_precleaned.csv / test_precleaned.csv written before feature engineering begins. PyOD notebook reads these directly, ensuring both parts share the same clean base.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BigMart Sales Project  ·  Prediction &amp; Anomaly Detection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Selection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4005072"/>
          </a:xfrm>
          <a:prstGeom prst="roundRect">
            <a:avLst>
              <a:gd name="adj" fmla="val 1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9264"/>
            <a:ext cx="64008" cy="38953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24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MRP_bin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16642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 bins (cheap / affordable / slightly expensive / expensive). Fit on X_train, applied via pd.cut to test.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Weight_bin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2128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 bins (vlight / light / moderate / heavy). Same train-fit / test-transform pattern.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56032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Calorie_Count_per_givenwt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calorie map by Item_Type × Item_Weight. log_Calorie (sqrt transform, skew=1.99). Survives dedup.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1089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Outlet_Age / Outlet_Status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3101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Outlet_Establishment_Year = age in years. Status = 'old' (&gt;20 yrs) vs 'new'. Dropped later by dedup.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9808" y="36576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Item_Frequency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858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Within-category frequency encoding of Item_Type → measures how common that item class is in the assortment.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42062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log_visibility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4407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log(Item_Visibility) to correct skew=0.77. Later dropped by dedup (redundant with Item_Visibility after IQR cap).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9744" y="914400"/>
            <a:ext cx="38862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9744" y="969264"/>
            <a:ext cx="64008" cy="190195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10241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(correlation &gt;0.8)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92624" y="1389888"/>
            <a:ext cx="3520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Calorie_Count_per_100g, Item_Weight, MRP_bin,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Outlet_Establishment_Year, Outlet_Existence, log_Calorie, log_visibility.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whichever side correlated more with target (Item_Outlet_Sales).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9744" y="3090672"/>
            <a:ext cx="38862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9744" y="3145536"/>
            <a:ext cx="64008" cy="1719072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320040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+ Embedded Selection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92624" y="356616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Agreement=2 (both methods): Outlet_Type (F=694.2) and Item_MRP (Pearson r=0.57).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11 features: Outlet_Type · Item_MRP · Outlet_Identifier · Outlet_Size · Outlet_Location_Type · Item_Visibility · Item_Frequency · Item_Type · Item_Identifier_Type · Outlet_Status · Calorie_Count_per_givenwt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BigMart Sales Project  ·  Prediction &amp; Anomaly Detection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Sales Prediction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55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0.519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RMSE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 scale)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42032" y="91440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2542032" y="98755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542032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MAE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 scale)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864" y="91440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8B3A2C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98755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26864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R²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11696" y="914400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4A7C59"/>
          </a:solidFill>
          <a:ln/>
        </p:spPr>
      </p:sp>
      <p:sp>
        <p:nvSpPr>
          <p:cNvPr id="13" name="Text 11"/>
          <p:cNvSpPr/>
          <p:nvPr/>
        </p:nvSpPr>
        <p:spPr>
          <a:xfrm>
            <a:off x="6711696" y="98755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5,681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711696" y="16642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predictions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5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negatives)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5-fold CV RMSE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2194560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88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788920"/>
            <a:ext cx="896112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78892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2788920"/>
            <a:ext cx="896112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78892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45536"/>
            <a:ext cx="2194560" cy="256032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45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0" y="3145536"/>
            <a:ext cx="896112" cy="256032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31455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49040" y="3145536"/>
            <a:ext cx="896112" cy="256032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31455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219456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401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0" y="3401568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34015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49040" y="3401568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34015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tied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657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0" y="3657600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88920" y="36576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49040" y="3657600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36576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913632"/>
            <a:ext cx="219456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0" y="3913632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39136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49040" y="3913632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94760" y="39136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169664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1696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0" y="4169664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88920" y="41696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749040" y="4169664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94760" y="41696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425696"/>
            <a:ext cx="219456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4256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0" y="4425696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88920" y="44256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0.614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749040" y="4425696"/>
            <a:ext cx="896112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94760" y="44256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4681728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46817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0" y="4681728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88920" y="46817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749040" y="4681728"/>
            <a:ext cx="89611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94760" y="46817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09744" y="2304288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809744" y="2359152"/>
            <a:ext cx="64008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92624" y="2423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wins both methods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992624" y="2779776"/>
            <a:ext cx="361188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0.523, Holdout RMSE 0.519 — both evaluation approaches select the same model, a strong consistency signal.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809744" y="2944368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809744" y="2999232"/>
            <a:ext cx="64008" cy="457200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92624" y="3063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added nothing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992624" y="3419856"/>
            <a:ext cx="361188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GBR: 0.523 RMSE — same as untuned Bagging. Variance reduction drove the gain, not hyperparameter search.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809744" y="3584448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809744" y="3639312"/>
            <a:ext cx="64008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92624" y="37033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= CV alignment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992624" y="4059936"/>
            <a:ext cx="361188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0.524 matches CV mean exactly. Holdout (0.519) comfortably within ±1 std (0.016). No overfitting.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809744" y="4224528"/>
            <a:ext cx="3886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809744" y="4279392"/>
            <a:ext cx="64008" cy="457200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92624" y="4343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retransformation bias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992624" y="4700016"/>
            <a:ext cx="3611880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log(Sales) → exp(ŷ) introduces ~11% multiplicative bias. Known issue; acceptable for this analysis scope.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Sales Prediction  ·  Target: Item_Outlet_Sales (log-transformed)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PyOD Anomaly Detection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4005072"/>
          </a:xfrm>
          <a:prstGeom prst="roundRect">
            <a:avLst>
              <a:gd name="adj" fmla="val 1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9264"/>
            <a:ext cx="64008" cy="38953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Bivariate (MRP × Sales)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Item_MRP and Item_Outlet_Sales only (MinMaxScaled).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= 5% (427 outliers expected).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detectors run; decision boundaries plotted for visual comparison.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silhouette scores: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15184"/>
            <a:ext cx="3621024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6151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615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0.3543 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3621024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712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8712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0.3395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127248"/>
            <a:ext cx="362102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127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KNN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31272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3621024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CBLOF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383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0.2917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39312"/>
            <a:ext cx="362102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6393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6393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0.2824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895344"/>
            <a:ext cx="3621024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895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Feat. Bag.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38953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0.2742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151376"/>
            <a:ext cx="362102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1513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41513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0.1903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914400"/>
            <a:ext cx="4023360" cy="4005072"/>
          </a:xfrm>
          <a:prstGeom prst="roundRect">
            <a:avLst>
              <a:gd name="adj" fmla="val 15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969264"/>
            <a:ext cx="64008" cy="3895344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005840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Multivariate (30 features)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1389888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Item_Visibility, Item_Weight, Item_Type, Item_Fat_Content,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Outlet_Type, Outlet_Size, Outlet_Location_Type, Outlet_Age.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X_multi shape: (8523, 30). Consensus label: flagged by ≥4/7 detectors.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228600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silhouette scores: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2615184"/>
            <a:ext cx="3621024" cy="237744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6151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26151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0.1067 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2871216"/>
            <a:ext cx="3621024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28712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CBLOF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49440" y="28712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0.1057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127248"/>
            <a:ext cx="362102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1272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HBOS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31272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0.1047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46320" y="3383280"/>
            <a:ext cx="3621024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3383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KNN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49440" y="33832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0.0640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3639312"/>
            <a:ext cx="362102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3639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0" y="36393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0.0630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3895344"/>
            <a:ext cx="3621024" cy="237744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3895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Feat. Bag.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49440" y="38953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0.0629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4151376"/>
            <a:ext cx="362102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41513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49440" y="41513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0.0491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PyOD  ·  contamination=5%  ·  silhouette score measures inlier/outlier separation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Interpretable Anomaly Categories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applied as percentile-rank thresholds (≥70th = high, ≤30th = low) on full dataset. 427 anomalies categorised.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16152"/>
            <a:ext cx="64008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167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 / Low Sales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536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rows (21.5%)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4128" y="17373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pricing; pilot markdown or value bundle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9744" y="117043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9744" y="1216152"/>
            <a:ext cx="64008" cy="78638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10912" y="13167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4A7C59"/>
          </a:solidFill>
          <a:ln/>
        </p:spPr>
      </p:sp>
      <p:sp>
        <p:nvSpPr>
          <p:cNvPr id="14" name="Text 12"/>
          <p:cNvSpPr/>
          <p:nvPr/>
        </p:nvSpPr>
        <p:spPr>
          <a:xfrm>
            <a:off x="5010912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76672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Visibility / High 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76672" y="15361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rows (13.6%)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76672" y="17373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shelf space; replicate placement elsewhere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13055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176272"/>
            <a:ext cx="64008" cy="786384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2276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4812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Visibility / Low 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2496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rows (33.5%)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24128" y="26974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shelf placement; consider category swap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9744" y="213055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9744" y="2176272"/>
            <a:ext cx="64008" cy="7863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10912" y="22768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B85042"/>
          </a:solidFill>
          <a:ln/>
        </p:spPr>
      </p:sp>
      <p:sp>
        <p:nvSpPr>
          <p:cNvPr id="28" name="Text 26"/>
          <p:cNvSpPr/>
          <p:nvPr/>
        </p:nvSpPr>
        <p:spPr>
          <a:xfrm>
            <a:off x="5010912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76672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 / High Sales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76672" y="2496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rows (8.9%)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76672" y="26974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margin; investigate premium bundle potential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09067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136392"/>
            <a:ext cx="64008" cy="786384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32369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8B3A2C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4128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Price / Low Sales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24128" y="3456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rows (6.6%)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24128" y="365760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delisting or repositioning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9744" y="309067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9744" y="3136392"/>
            <a:ext cx="64008" cy="786384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10912" y="32369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D4812A"/>
          </a:solidFill>
          <a:ln/>
        </p:spPr>
      </p:sp>
      <p:sp>
        <p:nvSpPr>
          <p:cNvPr id="42" name="Text 40"/>
          <p:cNvSpPr/>
          <p:nvPr/>
        </p:nvSpPr>
        <p:spPr>
          <a:xfrm>
            <a:off x="5010912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76672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Calorie / High Sales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76672" y="3456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rows (5.2%)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76672" y="365760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regulation watch; explore lighter variants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05079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4096512"/>
            <a:ext cx="64008" cy="786384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" y="41970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A7BEAE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24128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Calorie / Low Sales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24128" y="4416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rows (4.2%)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24128" y="461772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health benefits; reposition for diet segment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09744" y="4050792"/>
            <a:ext cx="4114800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09744" y="4096512"/>
            <a:ext cx="64008" cy="786384"/>
          </a:xfrm>
          <a:prstGeom prst="rect">
            <a:avLst/>
          </a:prstGeom>
          <a:solidFill>
            <a:srgbClr val="8C7B72"/>
          </a:solidFill>
          <a:ln w="12700">
            <a:solidFill>
              <a:srgbClr val="8C7B7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10912" y="419709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8C7B72"/>
          </a:solidFill>
          <a:ln/>
        </p:spPr>
      </p:sp>
      <p:sp>
        <p:nvSpPr>
          <p:cNvPr id="56" name="Text 54"/>
          <p:cNvSpPr/>
          <p:nvPr/>
        </p:nvSpPr>
        <p:spPr>
          <a:xfrm>
            <a:off x="5010912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376672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Uncategorised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76672" y="4416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rows (6.6%)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376672" y="461772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multi-feature anomaly — deeper manual review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8 business categories · C = largest (143 rows, 33.5%)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Signals — Binomial 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binomial test per segment: is the anomaly rate significantly above the 5% contamination baseline? (min 5 anomalies, p &lt; 0.05)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Outlet-level signals (flagged for investigation)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04672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46304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98448" y="1463040"/>
            <a:ext cx="548640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5024" y="146304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83664" y="1463040"/>
            <a:ext cx="804672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46304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24912" y="1463040"/>
            <a:ext cx="594360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1463040"/>
            <a:ext cx="539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55848" y="1463040"/>
            <a:ext cx="804672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46304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5% base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97096" y="1463040"/>
            <a:ext cx="621792" cy="3108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14630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1810512"/>
            <a:ext cx="804672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18105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OUT019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298448" y="1810512"/>
            <a:ext cx="548640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181051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83664" y="1810512"/>
            <a:ext cx="804672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18105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24912" y="1810512"/>
            <a:ext cx="594360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1488" y="1810512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55848" y="1810512"/>
            <a:ext cx="804672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18105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97096" y="1810512"/>
            <a:ext cx="621792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33672" y="18105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e-125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103120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21031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OUT010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298448" y="2103120"/>
            <a:ext cx="5486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35024" y="210312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83664" y="2103120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21031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24912" y="2103120"/>
            <a:ext cx="594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61488" y="2103120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55848" y="2103120"/>
            <a:ext cx="80467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2424" y="21031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97096" y="2103120"/>
            <a:ext cx="621792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33672" y="21031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e-10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2395728"/>
            <a:ext cx="804672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" y="23957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OUT027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298448" y="2395728"/>
            <a:ext cx="548640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35024" y="239572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935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883664" y="2395728"/>
            <a:ext cx="804672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20240" y="23957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24912" y="2395728"/>
            <a:ext cx="594360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61488" y="2395728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55848" y="2395728"/>
            <a:ext cx="804672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92424" y="23957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1.7×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197096" y="2395728"/>
            <a:ext cx="621792" cy="274320"/>
          </a:xfrm>
          <a:prstGeom prst="rect">
            <a:avLst/>
          </a:prstGeom>
          <a:solidFill>
            <a:srgbClr val="F0E0DA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33672" y="23957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e-05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28346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Item-type signals (independent of NC nested overlap)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57200" y="3200400"/>
            <a:ext cx="1005840" cy="310896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" y="320040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499616" y="3200400"/>
            <a:ext cx="548640" cy="310896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36192" y="3200400"/>
            <a:ext cx="493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084832" y="3200400"/>
            <a:ext cx="594360" cy="310896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21408" y="3200400"/>
            <a:ext cx="539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15768" y="3200400"/>
            <a:ext cx="594360" cy="310896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52344" y="3200400"/>
            <a:ext cx="539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346704" y="3200400"/>
            <a:ext cx="1371600" cy="310896"/>
          </a:xfrm>
          <a:prstGeom prst="rect">
            <a:avLst/>
          </a:prstGeom>
          <a:solidFill>
            <a:srgbClr val="8B3A2C"/>
          </a:solidFill>
          <a:ln w="12700">
            <a:solidFill>
              <a:srgbClr val="8B3A2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83280" y="320040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354787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3776" y="354787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Seafood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499616" y="3547872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36192" y="3547872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084832" y="3547872"/>
            <a:ext cx="594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121408" y="354787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15768" y="3547872"/>
            <a:ext cx="594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52344" y="354787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~3×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346704" y="3547872"/>
            <a:ext cx="1371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83280" y="35478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7200" y="3822192"/>
            <a:ext cx="100584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3776" y="382219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Starchy F.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499616" y="3822192"/>
            <a:ext cx="54864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36192" y="3822192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084832" y="3822192"/>
            <a:ext cx="59436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21408" y="382219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715768" y="3822192"/>
            <a:ext cx="59436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52344" y="382219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~2×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346704" y="3822192"/>
            <a:ext cx="1371600" cy="256032"/>
          </a:xfrm>
          <a:prstGeom prst="rect">
            <a:avLst/>
          </a:prstGeom>
          <a:solidFill>
            <a:srgbClr val="FAF6F2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83280" y="382219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" y="4096512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3776" y="409651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(NC)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499616" y="4096512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536192" y="4096512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084832" y="4096512"/>
            <a:ext cx="594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121408" y="409651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715768" y="4096512"/>
            <a:ext cx="594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52344" y="409651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~3×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346704" y="4096512"/>
            <a:ext cx="1371600" cy="256032"/>
          </a:xfrm>
          <a:prstGeom prst="rect">
            <a:avLst/>
          </a:prstGeom>
          <a:solidFill>
            <a:srgbClr val="F0F0F0"/>
          </a:solidFill>
          <a:ln w="12700">
            <a:solidFill>
              <a:srgbClr val="E0D4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383280" y="40965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— skip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809744" y="1097280"/>
            <a:ext cx="38862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4809744" y="1152144"/>
            <a:ext cx="6400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992624" y="12161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OUT019 — critical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4992624" y="1572768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 anomaly rate (7.8× baseline, p≈e⁻¹²⁵). Over 200 flagged rows. Likely data quality issue or genuine structural outlier. First priority for investigation.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4809744" y="2057400"/>
            <a:ext cx="38862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4809744" y="2112264"/>
            <a:ext cx="64008" cy="7498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92624" y="21762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OUT010 — elevated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4992624" y="2532888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11.9% rate (2.4× baseline). 66 anomalies. Statistically robust signal.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4809744" y="3017520"/>
            <a:ext cx="38862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4809744" y="3072384"/>
            <a:ext cx="64008" cy="7498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992624" y="31363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item deduplication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4992624" y="3493008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Others/Household/Health items share the same NC prefix population. Deduped to avoid triple-counting one underlying signal in the summary.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4809744" y="3977640"/>
            <a:ext cx="388620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4809744" y="4032504"/>
            <a:ext cx="64008" cy="7498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992624" y="40965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high-confidence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4992624" y="4453128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Corroborated by ≥4 of 7 independent detectors. Treat as real signals. Remaining 344 are candidates requiring further review.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binomial test per segment · baseline = 5% contamination · p &lt; 0.05 threshold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Signals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15184" cy="1261872"/>
          </a:xfrm>
          <a:prstGeom prst="roundRect">
            <a:avLst>
              <a:gd name="adj" fmla="val 5797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9264"/>
            <a:ext cx="64008" cy="11521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005840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21792" y="17190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anomalies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(5% contamination)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10128" y="914400"/>
            <a:ext cx="2615184" cy="1261872"/>
          </a:xfrm>
          <a:prstGeom prst="roundRect">
            <a:avLst>
              <a:gd name="adj" fmla="val 5797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10128" y="969264"/>
            <a:ext cx="64008" cy="11521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05840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474720" y="17190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(≥4/7 detectors)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63056" y="914400"/>
            <a:ext cx="2615184" cy="1261872"/>
          </a:xfrm>
          <a:prstGeom prst="roundRect">
            <a:avLst>
              <a:gd name="adj" fmla="val 5797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63056" y="969264"/>
            <a:ext cx="64008" cy="11521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005840"/>
            <a:ext cx="2304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327648" y="17190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segment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after dedup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4114800" cy="1170432"/>
          </a:xfrm>
          <a:prstGeom prst="roundRect">
            <a:avLst>
              <a:gd name="adj" fmla="val 5469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14016"/>
            <a:ext cx="64008" cy="10607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2505456"/>
            <a:ext cx="402336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50545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" y="248716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Price / Low Sales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2834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rows  ·  Pilot markdown or value bundle to unlock latent demand.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9744" y="2359152"/>
            <a:ext cx="4114800" cy="1170432"/>
          </a:xfrm>
          <a:prstGeom prst="roundRect">
            <a:avLst>
              <a:gd name="adj" fmla="val 5469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9744" y="2414016"/>
            <a:ext cx="64008" cy="106070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10912" y="2505456"/>
            <a:ext cx="402336" cy="274320"/>
          </a:xfrm>
          <a:prstGeom prst="roundRect">
            <a:avLst>
              <a:gd name="adj" fmla="val 13333"/>
            </a:avLst>
          </a:prstGeom>
          <a:solidFill>
            <a:srgbClr val="4A7C59"/>
          </a:solidFill>
          <a:ln/>
        </p:spPr>
      </p:sp>
      <p:sp>
        <p:nvSpPr>
          <p:cNvPr id="24" name="Text 22"/>
          <p:cNvSpPr/>
          <p:nvPr/>
        </p:nvSpPr>
        <p:spPr>
          <a:xfrm>
            <a:off x="5010912" y="250545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04688" y="248716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Visibility / High Sales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2834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rows  ·  Expand shelf allocation; replicate placement strategy in peer outlets.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639312"/>
            <a:ext cx="4114800" cy="1170432"/>
          </a:xfrm>
          <a:prstGeom prst="roundRect">
            <a:avLst>
              <a:gd name="adj" fmla="val 5469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694176"/>
            <a:ext cx="64008" cy="1060704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3785616"/>
            <a:ext cx="402336" cy="274320"/>
          </a:xfrm>
          <a:prstGeom prst="roundRect">
            <a:avLst>
              <a:gd name="adj" fmla="val 13333"/>
            </a:avLst>
          </a:prstGeom>
          <a:solidFill>
            <a:srgbClr val="D4812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7856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" y="376732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Visibility / Low Sales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4114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rows  ·  Audit shelf layout; consider category substitution or promotional reset.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9744" y="3639312"/>
            <a:ext cx="4114800" cy="1170432"/>
          </a:xfrm>
          <a:prstGeom prst="roundRect">
            <a:avLst>
              <a:gd name="adj" fmla="val 5469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9744" y="3694176"/>
            <a:ext cx="64008" cy="10607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10912" y="3785616"/>
            <a:ext cx="402336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5010912" y="378561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OUT019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04688" y="376732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Outlet-level anomaly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41148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rows  ·  39.2% anomaly rate (7.8× baseline). Audit data quality and store operations.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high-confidence anomalies corroborated by ≥4/7 independent detectors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42416"/>
            <a:ext cx="64008" cy="109728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97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Prediction: Bagging wins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0.519 · R² 0.738 · CV-holdout aligned. No overfitting. 5,681 test predictions all positive. Tuning added no value over default Bagging — variance reduction was the gain.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9744" y="987552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042416"/>
            <a:ext cx="64008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097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Anomaly: dual-phase PyOD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10912" y="1444752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(HBOS best, silhouette 0.35) then multivariate 30-feature (Isolation Forest best, 0.107). Consensus label from ≥4/7 detectors filters noise; 83 high-confidence rows.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59152"/>
            <a:ext cx="64008" cy="109728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4140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Business categories 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76148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rule-based categories using percentile thresholds convert 427 flagged rows into actionable retail signals. Cat C (143 rows) and Cat A (92 rows) are the largest segments.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9744" y="2304288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9744" y="2359152"/>
            <a:ext cx="64008" cy="1097280"/>
          </a:xfrm>
          <a:prstGeom prst="rect">
            <a:avLst/>
          </a:prstGeom>
          <a:solidFill>
            <a:srgbClr val="D4812A"/>
          </a:solidFill>
          <a:ln w="12700">
            <a:solidFill>
              <a:srgbClr val="D481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4140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Log bias ~11%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10912" y="276148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exp(ŷ) retransformation introduces multiplicative bias. Smearing correction or direct prediction of raw Sales would eliminate this. Known and accepted for current scope.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21024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75888"/>
            <a:ext cx="64008" cy="1097280"/>
          </a:xfrm>
          <a:prstGeom prst="rect">
            <a:avLst/>
          </a:prstGeom>
          <a:solidFill>
            <a:srgbClr val="8C7B72"/>
          </a:solidFill>
          <a:ln w="12700">
            <a:solidFill>
              <a:srgbClr val="8C7B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7307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Next: nested CV for prediction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4078224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pipeline uses single holdout. Nested cross-validation would give tighter generalization bounds and a cleaner separation of model selection from evaluation.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9744" y="3621024"/>
            <a:ext cx="4114800" cy="1207008"/>
          </a:xfrm>
          <a:prstGeom prst="roundRect">
            <a:avLst>
              <a:gd name="adj" fmla="val 5303"/>
            </a:avLst>
          </a:prstGeom>
          <a:solidFill>
            <a:srgbClr val="2A100A"/>
          </a:solidFill>
          <a:ln/>
          <a:effectLst>
            <a:outerShdw sx="100000" sy="100000" kx="0" ky="0" algn="bl" rotWithShape="0" blurRad="88900" dist="25400" dir="2700000">
              <a:srgbClr val="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9744" y="3675888"/>
            <a:ext cx="64008" cy="1097280"/>
          </a:xfrm>
          <a:prstGeom prst="rect">
            <a:avLst/>
          </a:prstGeom>
          <a:solidFill>
            <a:srgbClr val="8C7B72"/>
          </a:solidFill>
          <a:ln w="12700">
            <a:solidFill>
              <a:srgbClr val="8C7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7307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Next: expand anomaly categories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10912" y="4078224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Cat I (unusual outlet age patterns) and Cat J (weight outliers in food items). Connect category labels back to the prediction notebook to see if anomalies have higher prediction error.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notebook: Big-mart-sales-prediction.ipynb  ·  Part 2 notebook: Big-mart-sales-pyod.ipynb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BigMart Sales — Prediction &amp; Anomaly Detection</dc:title>
  <dc:subject>PptxGenJS Presentation</dc:subject>
  <dc:creator>PptxGenJS</dc:creator>
  <cp:lastModifiedBy>PptxGenJS</cp:lastModifiedBy>
  <cp:revision>1</cp:revision>
  <dcterms:created xsi:type="dcterms:W3CDTF">2026-06-21T11:26:02Z</dcterms:created>
  <dcterms:modified xsi:type="dcterms:W3CDTF">2026-06-21T11:26:02Z</dcterms:modified>
</cp:coreProperties>
</file>