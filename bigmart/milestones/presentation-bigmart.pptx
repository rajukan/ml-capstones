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334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0" y="4572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280C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BigMart Sales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·  Anomaly Detection  ·  Business Insights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6576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30428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dual-notebook approach: accurate sales forecasting (Part 1) paired with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anomaly categories for business decision-support (Part 2).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8,523 train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3472" y="3310128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33472" y="33101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raw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3310128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18304" y="33101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PyOD detectors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3310128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03136" y="33101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business categories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Sales Prediction  ·  Part 2: PyOD Anomaly Detection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train_bigmart.csv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8,523 rows, 12 features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38528" y="1664208"/>
            <a:ext cx="146304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84832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84832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84832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 fix · fat label dedupe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 prefix extraction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1664208"/>
            <a:ext cx="146304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03904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03904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03904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 bin · calorie map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transforms · ANOVA selection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76672" y="1664208"/>
            <a:ext cx="146304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22976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8B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22976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Predict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22976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tuned GBR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0.519 · R² 0.738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95744" y="1664208"/>
            <a:ext cx="146304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42048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42048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PyOD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42048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detectors · 8 categories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 anomalies, 83 high-conf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090672"/>
            <a:ext cx="54864" cy="5120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" y="27249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Prediction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310896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Item_Outlet_Sales (log-transformed). 5-fold CV + holdout evaluation. Bagging + tuned GBR wins (both methods agree). Predictions exported for test set (5,681 rows, no negatives).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9744" y="2633472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9744" y="3090672"/>
            <a:ext cx="54864" cy="5120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74336" y="27249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Discovery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10912" y="310896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discarding anomalies as noise, classify them into 8 interpretable business categories (High Price/Low Sales, Low Visibility/High Sales, etc.) with binomial segment testing.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54864" cy="5120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1792" y="38404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preprocessed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422452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train_precleaned.csv saved at end of EDA — ensures both notebooks use identical imputed values with no re-processing drift or leakage between notebooks.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9744" y="374904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9744" y="4206240"/>
            <a:ext cx="54864" cy="5120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74336" y="38404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10912" y="4224528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Dual-perspective: Part 1 answers 'how much will this sell?' — Part 2 answers 'which products/outlets behave unexpectedly and why?'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BigMart Sales Project  ·  Prediction &amp; Anomaly Detection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Item_Weight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42032" y="91440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42032" y="987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42032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Outlet_Size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91440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987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26864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zeros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11696" y="91440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11696" y="987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11696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label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cleaned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41148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54864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217627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 as missing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2560320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 = 0 is physically implausible on a shelf. Replaced with NaN, imputed via Item_Identifier group mean (training only). IQR cap applied post-imputation.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9744" y="2084832"/>
            <a:ext cx="41148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9744" y="2542032"/>
            <a:ext cx="54864" cy="3657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74336" y="217627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label deduplication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2560320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'LF', 'low fat' → 'Low Fat'; 'reg' → 'Regular'. Non-consumables (NC prefix) assigned 'No Fat' — fat content is meaningless for household goods.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44952"/>
            <a:ext cx="41148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502152"/>
            <a:ext cx="54864" cy="365760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313639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in features (obs.)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3520440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Insulin-analogue: Calorie_Count skew=1.99 → sqrt transform. Item_Visibility skew=0.77 → log. Item_MRP and Item_Weight near-symmetric (skew ~0.07–0.11) — no transform needed. BMI and BloodPressure-analogue features left-skewed → drove the RobustScaler choice.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9744" y="3044952"/>
            <a:ext cx="41148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09744" y="3502152"/>
            <a:ext cx="54864" cy="365760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74336" y="313639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Outlet_Size unknown → Small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0912" y="3520440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outlets are all Grocery Store or Supermarket Type 1. Cross-tab + bar plots confirm same sales/visibility pattern as Small. Imputed deterministically.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005072"/>
            <a:ext cx="41148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4462272"/>
            <a:ext cx="54864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" y="40965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Train-only imputation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" y="4480560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median/mean imputation fit on X_train only. X_test and df_test transform using X_train statistics. Group-level hierarchy: Item_Identifier → global mean safety net.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9744" y="4005072"/>
            <a:ext cx="41148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9744" y="4462272"/>
            <a:ext cx="54864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74336" y="40965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paradox (obs.)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4480560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 has a weak but significant negative correlation with sales (r = −0.087). Counterintuitive: zero-visibility items still sell — likely staples with stable demand regardless of shelf position. Effect size is small so practical impact is limited; real signal lies in Outlet_Type and Item_MRP.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BigMart Sales Project  ·  Prediction &amp; Anomaly Detection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Selection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4005072"/>
          </a:xfrm>
          <a:prstGeom prst="roundRect">
            <a:avLst>
              <a:gd name="adj" fmla="val 159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64008" cy="38953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MRP_bin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6642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 bins (cheap / affordable / slightly expensive / expensive). Fit on X_train, pd.cut to test.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Weight_bin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2128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 bins (vlight / light / moderate / heavy). Same train-fit / test-transform.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5603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Calorie_Count_per_givenwt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map by Item_Type × Item_Weight. sqrt(calorie) transform (skew=1.99). Survives dedup.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089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Outlet_Age / Outlet_Status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3101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2013 − Outlet_Establishment_Year. Status = old (&gt;20 yrs) vs new. Dropped by dedup.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36576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Item_Frequency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858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Within-category frequency encoding of Item_Type — how common that item class is in the assortment.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42062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log_visibility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4407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log(Item_Visibility) corrects skew=0.77. Dropped by dedup (redundant after IQR cap).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9744" y="914400"/>
            <a:ext cx="3886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9744" y="969264"/>
            <a:ext cx="64008" cy="117043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92624" y="10241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(correlation &gt;0.8)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92624" y="13898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Calorie_Count_per_100g, Item_Weight, MRP_bin, Outlet_Establishment_Year, Outlet_Existence, log_Calorie, log_visibility.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whichever side correlated more with target.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9744" y="2340864"/>
            <a:ext cx="388620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9744" y="2395728"/>
            <a:ext cx="64008" cy="1371600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92624" y="24505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observations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92624" y="28163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Store-level features dominate: Outlet_Type F=694.2, Outlet_Identifier F=232.6, Outlet_Size F=175.3.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Item_MRP (r=0.565) is the strongest continuous predictor.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significant: Item_Fat_Content (p=0.446) and Weight_bin (p=0.715) — add noise, not signal.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where the store is matters more than what the item is.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9744" y="3968496"/>
            <a:ext cx="3886200" cy="950976"/>
          </a:xfrm>
          <a:prstGeom prst="roundRect">
            <a:avLst>
              <a:gd name="adj" fmla="val 673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9744" y="4023360"/>
            <a:ext cx="64008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92624" y="407822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11 features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92624" y="442569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Outlet_Type · Item_MRP · Outlet_Identifier · Outlet_Size · Outlet_Location_Type · Item_Visibility · Item_Frequency · Item_Type · Item_Identifier_Type · Outlet_Status · Calorie_Count_per_givenwt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BigMart Sales Project  ·  Prediction &amp; Anomaly Detection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Sales Prediction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0.519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RMSE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scale)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42032" y="91440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42032" y="98755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42032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MAE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scale)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91440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8B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26864" y="98755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26864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R²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11696" y="91440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11696" y="98755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5,681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711696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predictions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negatives)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5-fold CV RMSE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2194560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788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788920"/>
            <a:ext cx="896112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88920" y="278892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2788920"/>
            <a:ext cx="896112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94760" y="278892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45536"/>
            <a:ext cx="2194560" cy="256032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145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0" y="3145536"/>
            <a:ext cx="896112" cy="256032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88920" y="31455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49040" y="3145536"/>
            <a:ext cx="896112" cy="256032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94760" y="31455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219456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0" y="3401568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88920" y="34015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49040" y="3401568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94760" y="34015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tied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0" y="3657600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88920" y="36576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49040" y="3657600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94760" y="36576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913632"/>
            <a:ext cx="219456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0" y="3913632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88920" y="39136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49040" y="3913632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94760" y="39136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169664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169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0" y="4169664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88920" y="41696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749040" y="4169664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794760" y="41696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425696"/>
            <a:ext cx="219456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920" y="44256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0" y="4425696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88920" y="44256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749040" y="4425696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794760" y="44256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4681728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2920" y="4681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0" y="4681728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788920" y="46817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749040" y="4681728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794760" y="46817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Sales Prediction  ·  Target: Item_Outlet_Sales (log-transformed)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PyOD Anomaly Detection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4005072"/>
          </a:xfrm>
          <a:prstGeom prst="roundRect">
            <a:avLst>
              <a:gd name="adj" fmla="val 159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64008" cy="38953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Bivariate (MRP × Sales)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Item_MRP and Item_Outlet_Sales (MinMaxScaled). Contamination=5%. Decision boundaries plotted for all 7 detectors.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silhouette scores: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59152"/>
            <a:ext cx="3621024" cy="219456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359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359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0.3543 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96896"/>
            <a:ext cx="3621024" cy="219456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596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596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0.3395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36210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8346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KNN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834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072384"/>
            <a:ext cx="3621024" cy="219456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072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CBLOF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0723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0.2917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36210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3101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310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0.2824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547872"/>
            <a:ext cx="3621024" cy="219456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35478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Bag.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5478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0.2742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785616"/>
            <a:ext cx="36210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37856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37856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3621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HBOS wins on 2D price/sales space because its histogram bins efficiently capture the MRP-Sales grid without needing density estimates. In 30D multivariate space, Isolation Forest's random partitioning generalises better.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914400"/>
            <a:ext cx="4023360" cy="4005072"/>
          </a:xfrm>
          <a:prstGeom prst="roundRect">
            <a:avLst>
              <a:gd name="adj" fmla="val 159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969264"/>
            <a:ext cx="64008" cy="3895344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1005840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Multivariate (30 features)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1389888"/>
            <a:ext cx="3621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Item_Visibility, Item_Weight, Item_Type, Item_Fat_Content, Outlet_Type, Outlet_Size, Outlet_Location_Type, Outlet_Age. X_multi: (8523, 30). Consensus: ≥4/7 detectors.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212140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silhouette scores: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450592"/>
            <a:ext cx="3621024" cy="219456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19472" y="24505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24505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0.1067 ←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688336"/>
            <a:ext cx="3621024" cy="219456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19472" y="26883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CBLOF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0" y="2688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0.1057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926080"/>
            <a:ext cx="36210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19472" y="2926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49440" y="2926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0.1047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163824"/>
            <a:ext cx="3621024" cy="219456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19472" y="31638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KNN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9440" y="31638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0.0640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3401568"/>
            <a:ext cx="36210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19472" y="3401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49440" y="3401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3639312"/>
            <a:ext cx="3621024" cy="219456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19472" y="36393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Bag.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36393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0.0629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3877056"/>
            <a:ext cx="36210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19472" y="3877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49440" y="38770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46320" y="4114800"/>
            <a:ext cx="3621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widening from 2 to 30 features changes what 'unusual' means — from 'extreme price/sales pair' to 'unusual store-product combination given operational context'. Consensus across 7 independent detectors reduces false positives.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PyOD  ·  contamination=5%  ·  silhouette score = inlier/outlier separation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Interpretable Anomaly Categories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applied as percentile-rank thresholds (≥70th = high, ≤30th = low) on full dataset. 427 anomalies categorised.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64008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3167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/ Low Sales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536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rows (21.5%)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4128" y="17373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pricing; pilot markdown or value bundle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9744" y="117043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9744" y="1216152"/>
            <a:ext cx="64008" cy="78638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10912" y="13167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10912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76672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 / High 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76672" y="1536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rows (13.6%)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76672" y="17373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shelf space; replicate placement elsewhere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3055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2176272"/>
            <a:ext cx="64008" cy="786384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" y="2276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48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Visibility / Low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496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rows (33.5%)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24128" y="26974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shelf placement; consider category swap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213055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9744" y="2176272"/>
            <a:ext cx="64008" cy="7863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10912" y="2276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10912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76672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/ High Sales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76672" y="2496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rows (8.9%)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76672" y="26974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margin; investigate premium bundle potential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09067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3136392"/>
            <a:ext cx="64008" cy="786384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8368" y="32369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8B3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4128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 / Low Sales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24128" y="3456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rows (6.6%)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24128" y="36576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delisting or repositioning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9744" y="309067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9744" y="3136392"/>
            <a:ext cx="64008" cy="786384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10912" y="32369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48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10912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76672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Calorie / High Sales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76672" y="3456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rows (5.2%)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76672" y="36576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regulation watch; explore lighter variants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05079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57200" y="4096512"/>
            <a:ext cx="64008" cy="786384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58368" y="41970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A7BE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8368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24128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Calorie / Low Sales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24128" y="4416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rows (4.2%)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24128" y="46177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health benefits; reposition for diet segment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09744" y="405079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09744" y="4096512"/>
            <a:ext cx="64008" cy="786384"/>
          </a:xfrm>
          <a:prstGeom prst="rect">
            <a:avLst/>
          </a:prstGeom>
          <a:solidFill>
            <a:srgbClr val="8C7B72"/>
          </a:solidFill>
          <a:ln w="12700">
            <a:solidFill>
              <a:srgbClr val="8C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10912" y="41970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8C7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10912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76672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Uncategorised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76672" y="4416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rows (6.6%)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376672" y="46177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multi-feature anomaly — deeper manual review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8 business categories · C = largest (143 rows, 33.5%) · A = highest pricing inefficiency risk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Signals — Binomial 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binomial test: is the anomaly rate significantly above the 5% baseline? (min 5 anomalies, p &lt; 0.05)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outlets flagged for investigation (obs.)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13232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4630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07008" y="1463040"/>
            <a:ext cx="502920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43584" y="1463040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46504" y="1463040"/>
            <a:ext cx="749808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83080" y="1463040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32888" y="1463040"/>
            <a:ext cx="548640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9464" y="146304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18104" y="1463040"/>
            <a:ext cx="640080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54680" y="1463040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94760" y="1463040"/>
            <a:ext cx="594360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31336" y="1463040"/>
            <a:ext cx="539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792224"/>
            <a:ext cx="713232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179222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OUT019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07008" y="1792224"/>
            <a:ext cx="502920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43584" y="1792224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46504" y="1792224"/>
            <a:ext cx="749808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83080" y="179222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32888" y="1792224"/>
            <a:ext cx="548640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9464" y="1792224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18104" y="1792224"/>
            <a:ext cx="640080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54680" y="1792224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7.8×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1792224"/>
            <a:ext cx="594360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31336" y="1792224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e-125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048256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" y="204825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07008" y="2048256"/>
            <a:ext cx="502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43584" y="2048256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46504" y="2048256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783080" y="20482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32888" y="2048256"/>
            <a:ext cx="5486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69464" y="2048256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18104" y="2048256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54680" y="2048256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94760" y="2048256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31336" y="2048256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2304288"/>
            <a:ext cx="713232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3776" y="23042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OUT027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07008" y="2304288"/>
            <a:ext cx="502920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243584" y="2304288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46504" y="2304288"/>
            <a:ext cx="749808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783080" y="230428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32888" y="2304288"/>
            <a:ext cx="548640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569464" y="23042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18104" y="2304288"/>
            <a:ext cx="640080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54680" y="230428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1.7×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94760" y="2304288"/>
            <a:ext cx="594360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31336" y="2304288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e-06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2560320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3776" y="25603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OUT018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207008" y="2560320"/>
            <a:ext cx="502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243584" y="2560320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746504" y="2560320"/>
            <a:ext cx="74980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783080" y="25603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32888" y="2560320"/>
            <a:ext cx="5486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69464" y="256032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118104" y="2560320"/>
            <a:ext cx="6400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154680" y="256032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1.3×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794760" y="2560320"/>
            <a:ext cx="5943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831336" y="2560320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0.038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7200" y="29260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Item-type signals (obs. — after NC dedup)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57200" y="3291840"/>
            <a:ext cx="914400" cy="292608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93776" y="329184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408176" y="3291840"/>
            <a:ext cx="502920" cy="292608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444752" y="3291840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947672" y="3291840"/>
            <a:ext cx="548640" cy="292608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984248" y="329184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532888" y="3291840"/>
            <a:ext cx="548640" cy="292608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569464" y="3291840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118104" y="3291840"/>
            <a:ext cx="1280160" cy="292608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154680" y="32918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" y="3621024"/>
            <a:ext cx="9144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93776" y="362102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Seafood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408176" y="3621024"/>
            <a:ext cx="502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444752" y="3621024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947672" y="3621024"/>
            <a:ext cx="5486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1984248" y="3621024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532888" y="3621024"/>
            <a:ext cx="54864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569464" y="3621024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~3×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118104" y="3621024"/>
            <a:ext cx="12801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154680" y="362102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3877056"/>
            <a:ext cx="914400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93776" y="387705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Starchy F.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1408176" y="3877056"/>
            <a:ext cx="502920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444752" y="3877056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947672" y="3877056"/>
            <a:ext cx="548640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984248" y="3877056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532888" y="3877056"/>
            <a:ext cx="548640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2569464" y="3877056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118104" y="3877056"/>
            <a:ext cx="1280160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154680" y="387705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57200" y="4133088"/>
            <a:ext cx="914400" cy="237744"/>
          </a:xfrm>
          <a:prstGeom prst="rect">
            <a:avLst/>
          </a:prstGeom>
          <a:solidFill>
            <a:srgbClr val="F0F0F0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93776" y="413308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(NC)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408176" y="4133088"/>
            <a:ext cx="502920" cy="237744"/>
          </a:xfrm>
          <a:prstGeom prst="rect">
            <a:avLst/>
          </a:prstGeom>
          <a:solidFill>
            <a:srgbClr val="F0F0F0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1444752" y="4133088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947672" y="4133088"/>
            <a:ext cx="548640" cy="237744"/>
          </a:xfrm>
          <a:prstGeom prst="rect">
            <a:avLst/>
          </a:prstGeom>
          <a:solidFill>
            <a:srgbClr val="F0F0F0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1984248" y="41330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532888" y="4133088"/>
            <a:ext cx="548640" cy="237744"/>
          </a:xfrm>
          <a:prstGeom prst="rect">
            <a:avLst/>
          </a:prstGeom>
          <a:solidFill>
            <a:srgbClr val="F0F0F0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2569464" y="413308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~3×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118104" y="4133088"/>
            <a:ext cx="1280160" cy="237744"/>
          </a:xfrm>
          <a:prstGeom prst="rect">
            <a:avLst/>
          </a:prstGeom>
          <a:solidFill>
            <a:srgbClr val="F0F0F0"/>
          </a:solidFill>
          <a:ln w="12700">
            <a:solidFill>
              <a:srgbClr val="E0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154680" y="413308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— skip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57200" y="44988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Starchy Foods also shows largest downward outliers in residual analysis — model overpredicts for specific low-selling Starchy Foods combinations. Consistent with both PyOD and prediction notebook flagging this segment.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809744" y="1097280"/>
            <a:ext cx="38862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4809744" y="1554480"/>
            <a:ext cx="54864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974336" y="1188720"/>
            <a:ext cx="3630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OUT019 — critical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5010912" y="1572768"/>
            <a:ext cx="3593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 anomaly rate (7.8× baseline, p≈e⁻¹²⁵). 207 flagged rows. Likely data quality issue or genuinely distinct demand pattern. First priority for investigation.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809744" y="2057400"/>
            <a:ext cx="38862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809744" y="2514600"/>
            <a:ext cx="54864" cy="365760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4974336" y="2148840"/>
            <a:ext cx="3630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OUT027 — elevated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5010912" y="2532888"/>
            <a:ext cx="3593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 rate (1.7× baseline, p=3.3e-6). High-volume outlet (mean sales 3,694 vs dataset mean 2,181) — also shows widest prediction residuals.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4809744" y="3017520"/>
            <a:ext cx="38862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809744" y="3474720"/>
            <a:ext cx="54864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4974336" y="3108960"/>
            <a:ext cx="3630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item deduplication</a:t>
            </a:r>
            <a:endParaRPr lang="en-US" sz="1200" dirty="0"/>
          </a:p>
        </p:txBody>
      </p:sp>
      <p:sp>
        <p:nvSpPr>
          <p:cNvPr id="118" name="Text 116"/>
          <p:cNvSpPr/>
          <p:nvPr/>
        </p:nvSpPr>
        <p:spPr>
          <a:xfrm>
            <a:off x="5010912" y="3493008"/>
            <a:ext cx="3593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Others/Household/Health items share the NC prefix population. Deduped to avoid triple-counting one underlying signal.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4809744" y="3977640"/>
            <a:ext cx="38862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809744" y="4434840"/>
            <a:ext cx="54864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4974336" y="4069080"/>
            <a:ext cx="3630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high-confidence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5010912" y="4453128"/>
            <a:ext cx="3593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Corroborated by ≥4/7 independent detectors. Treat as real signals. Remaining 344 are candidates requiring further review.</a:t>
            </a:r>
            <a:endParaRPr lang="en-US" sz="1050" dirty="0"/>
          </a:p>
        </p:txBody>
      </p:sp>
      <p:sp>
        <p:nvSpPr>
          <p:cNvPr id="123" name="Text 12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binomial test per segment · baseline=5% contamination · p &lt; 0.05 threshold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Signals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15184" cy="1261872"/>
          </a:xfrm>
          <a:prstGeom prst="roundRect">
            <a:avLst>
              <a:gd name="adj" fmla="val 5797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64008" cy="11521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005840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21792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anomalies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(5% contamination)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0128" y="914400"/>
            <a:ext cx="2615184" cy="1261872"/>
          </a:xfrm>
          <a:prstGeom prst="roundRect">
            <a:avLst>
              <a:gd name="adj" fmla="val 5797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10128" y="969264"/>
            <a:ext cx="64008" cy="11521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005840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474720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(≥4/7 detectors)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3056" y="914400"/>
            <a:ext cx="2615184" cy="1261872"/>
          </a:xfrm>
          <a:prstGeom prst="roundRect">
            <a:avLst>
              <a:gd name="adj" fmla="val 5797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63056" y="969264"/>
            <a:ext cx="64008" cy="11521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27648" y="1005840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327648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segment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after dedup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4114800" cy="1170432"/>
          </a:xfrm>
          <a:prstGeom prst="roundRect">
            <a:avLst>
              <a:gd name="adj" fmla="val 5469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64008" cy="10607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" y="2505456"/>
            <a:ext cx="402336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250545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" y="248716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/ Low Sales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2834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rows · Pilot markdown or value bundle — these items have the MRP to sell more if priced more competitively.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9744" y="2359152"/>
            <a:ext cx="4114800" cy="1170432"/>
          </a:xfrm>
          <a:prstGeom prst="roundRect">
            <a:avLst>
              <a:gd name="adj" fmla="val 5469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9744" y="2414016"/>
            <a:ext cx="64008" cy="106070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10912" y="2505456"/>
            <a:ext cx="402336" cy="274320"/>
          </a:xfrm>
          <a:prstGeom prst="roundRect">
            <a:avLst>
              <a:gd name="adj" fmla="val 13333"/>
            </a:avLst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10912" y="250545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04688" y="248716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 / High Sales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2834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rows · Hidden high-demand products — selling well despite poor shelf position. Boost placement to unlock full potential; replicate placement in peer outlets.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639312"/>
            <a:ext cx="4114800" cy="1170432"/>
          </a:xfrm>
          <a:prstGeom prst="roundRect">
            <a:avLst>
              <a:gd name="adj" fmla="val 5469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694176"/>
            <a:ext cx="64008" cy="1060704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8368" y="3785616"/>
            <a:ext cx="402336" cy="274320"/>
          </a:xfrm>
          <a:prstGeom prst="roundRect">
            <a:avLst>
              <a:gd name="adj" fmla="val 13333"/>
            </a:avLst>
          </a:prstGeom>
          <a:solidFill>
            <a:srgbClr val="D48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" y="37856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" y="376732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Visibility / Low Sales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rows · Shelf-space waste — most common category (33.5%). Audit layout; pilot category substitution or promotional reset.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9744" y="3639312"/>
            <a:ext cx="4114800" cy="1170432"/>
          </a:xfrm>
          <a:prstGeom prst="roundRect">
            <a:avLst>
              <a:gd name="adj" fmla="val 5469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09744" y="3694176"/>
            <a:ext cx="64008" cy="10607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10912" y="3785616"/>
            <a:ext cx="402336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10912" y="37856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OUT019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04688" y="376732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Outlet-level anomaly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rows · 39.2% anomaly rate (7.8× baseline). OUT027 also flagged (8.6%). Audit data quality and store-specific demand patterns.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high-confidence anomalies corroborated by ≥4/7 independent detectors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0E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64008" cy="10972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097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Prediction: Bagging wins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0.519 · R² 0.738 · CV-holdout aligned. OOF RMSE = CV mean exactly (leakage-free). Tuning added nothing — variance reduction was the gain. Grocery Store: most reliably predicted outlet. Type3: widest residuals but it's a scale effect, not model failure.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9744" y="987552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9744" y="1042416"/>
            <a:ext cx="64008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10912" y="1097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Anomaly: dual-phase PyOD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10912" y="1444752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Bivariate: HBOS best (silhouette 0.35). Multivariate 30-feature: Isolation Forest best (0.107). Winner changes because 'unusual' shifts from extreme price/sales to unusual store-product context. Consensus ≥4/7 → 83 high-confidence rows.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64008" cy="10972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4140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Business categories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76148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percentile-rank categories convert 427 flagged rows into actionable signals. Cat C (143 rows) = shelf-space waste. Cat B (58 rows) = hidden demand. Key insight: store-level features (Outlet_Type, Item_MRP) dominate; item-level attributes (Fat_Content, Weight_bin) add noise.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9744" y="2304288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9744" y="2359152"/>
            <a:ext cx="64008" cy="1097280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10912" y="24140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Log bias + feature drops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10912" y="276148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exp(ŷ) retransformation introduces ~11% multiplicative bias (smearing correction is next step). Item_Fat_Content (p=0.446) and Weight_bin (p=0.715) confirmed non-significant by ANOVA — correctly dropped. Starchy Foods anomaly appears in both PyOD and residual analysis: consistent cross-notebook signal.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21024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64008" cy="1097280"/>
          </a:xfrm>
          <a:prstGeom prst="rect">
            <a:avLst/>
          </a:prstGeom>
          <a:solidFill>
            <a:srgbClr val="8C7B72"/>
          </a:solidFill>
          <a:ln w="12700">
            <a:solidFill>
              <a:srgbClr val="8C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730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Next: nested CV + calibration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4078224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pipeline: single holdout. Nested CV gives tighter generalisation bounds. Also: post-hoc Platt scaling or isotonic regression to remove log retransformation bias before reporting to stakeholders.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9744" y="3621024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blurRad="889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9744" y="3675888"/>
            <a:ext cx="64008" cy="1097280"/>
          </a:xfrm>
          <a:prstGeom prst="rect">
            <a:avLst/>
          </a:prstGeom>
          <a:solidFill>
            <a:srgbClr val="8C7B72"/>
          </a:solidFill>
          <a:ln w="12700">
            <a:solidFill>
              <a:srgbClr val="8C7B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10912" y="3730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Next: expand anomaly categories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10912" y="4078224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Cat I (unusual outlet age patterns) and Cat J (weight outliers in food items). Connect category labels back to prediction notebook — test if PyOD-flagged rows carry higher RMSE (hypothesis: anomalies = hard-to-predict rows).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Big-mart-sales-prediction.ipynb  ·  Part 2: Big-mart-sales-pyod.ipynb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2220</Words>
  <Application>Microsoft Office PowerPoint</Application>
  <PresentationFormat>On-screen Show (16:9)</PresentationFormat>
  <Paragraphs>302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BigMart Sales — Prediction &amp; Anomaly Detection</dc:title>
  <dc:subject>PptxGenJS Presentation</dc:subject>
  <dc:creator>PptxGenJS</dc:creator>
  <cp:lastModifiedBy>gyan kannur</cp:lastModifiedBy>
  <cp:revision>3</cp:revision>
  <dcterms:created xsi:type="dcterms:W3CDTF">2026-06-27T19:44:19Z</dcterms:created>
  <dcterms:modified xsi:type="dcterms:W3CDTF">2026-06-27T19:50:35Z</dcterms:modified>
</cp:coreProperties>
</file>