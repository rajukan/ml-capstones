
<file path=[Content_Types].xml><?xml version="1.0" encoding="utf-8"?>
<Types xmlns="http://schemas.openxmlformats.org/package/2006/content-types"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5334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2.m4a"/><Relationship Id="rId1" Type="http://schemas.microsoft.com/office/2007/relationships/media" Target="../media/media2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3.m4a"/><Relationship Id="rId1" Type="http://schemas.microsoft.com/office/2007/relationships/media" Target="../media/media3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4.m4a"/><Relationship Id="rId1" Type="http://schemas.microsoft.com/office/2007/relationships/media" Target="../media/media4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5.m4a"/><Relationship Id="rId1" Type="http://schemas.microsoft.com/office/2007/relationships/media" Target="../media/media5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6.m4a"/><Relationship Id="rId1" Type="http://schemas.microsoft.com/office/2007/relationships/media" Target="../media/media6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7.m4a"/><Relationship Id="rId1" Type="http://schemas.microsoft.com/office/2007/relationships/media" Target="../media/media7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8.m4a"/><Relationship Id="rId1" Type="http://schemas.microsoft.com/office/2007/relationships/media" Target="../media/media8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9.m4a"/><Relationship Id="rId1" Type="http://schemas.microsoft.com/office/2007/relationships/media" Target="../media/media9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0.m4a"/><Relationship Id="rId1" Type="http://schemas.microsoft.com/office/2007/relationships/media" Target="../media/media10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0E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303520" y="45720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0" b="1" dirty="0">
                <a:solidFill>
                  <a:srgbClr val="280C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BigMart Sales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 ·  Anomaly Detection  ·  Business Insights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084832"/>
            <a:ext cx="8432074" cy="45719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2304288"/>
            <a:ext cx="6858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680 </a:t>
            </a:r>
          </a:p>
          <a:p>
            <a:pPr marL="0" indent="0" algn="ctr">
              <a:buNone/>
            </a:pPr>
            <a:r>
              <a:rPr lang="en-US" sz="2400" b="1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Gyan Kannur</a:t>
            </a:r>
          </a:p>
          <a:p>
            <a:pPr marL="0" indent="0" algn="ctr">
              <a:buNone/>
            </a:pPr>
            <a:r>
              <a:rPr lang="en-US" sz="2400" b="1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Ashton Xu</a:t>
            </a:r>
            <a:endParaRPr lang="en-US" sz="2400" b="1" dirty="0"/>
          </a:p>
        </p:txBody>
      </p:sp>
      <p:sp>
        <p:nvSpPr>
          <p:cNvPr id="16" name="Text 14"/>
          <p:cNvSpPr/>
          <p:nvPr/>
        </p:nvSpPr>
        <p:spPr>
          <a:xfrm>
            <a:off x="548640" y="46634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1: Sales Prediction  ·  Part 2: PyOD Anomaly Detection</a:t>
            </a:r>
            <a:endParaRPr lang="en-US" sz="950" dirty="0"/>
          </a:p>
        </p:txBody>
      </p:sp>
      <p:pic>
        <p:nvPicPr>
          <p:cNvPr id="13" name="Audio 12">
            <a:hlinkClick r:id="" action="ppaction://media"/>
            <a:extLst>
              <a:ext uri="{FF2B5EF4-FFF2-40B4-BE49-F238E27FC236}">
                <a16:creationId xmlns:a16="http://schemas.microsoft.com/office/drawing/2014/main" id="{98790CC8-EABD-2F0D-8F8E-FE3B96BD235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76563" t="-76563" r="-76563" b="-76563"/>
          <a:stretch>
            <a:fillRect/>
          </a:stretch>
        </p:blipFill>
        <p:spPr>
          <a:xfrm>
            <a:off x="7539228" y="3538728"/>
            <a:ext cx="1543050" cy="154305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5540"/>
    </mc:Choice>
    <mc:Fallback>
      <p:transition spd="slow" advTm="1554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3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7E8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8B3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1572768" cy="1417320"/>
          </a:xfrm>
          <a:prstGeom prst="roundRect">
            <a:avLst>
              <a:gd name="adj" fmla="val 5161"/>
            </a:avLst>
          </a:prstGeom>
          <a:solidFill>
            <a:srgbClr val="B850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07899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1481328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5E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train_bigmart.csv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5E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8,523 rows, 12 features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938528" y="1664208"/>
            <a:ext cx="146304" cy="7315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084832" y="1005840"/>
            <a:ext cx="1572768" cy="1417320"/>
          </a:xfrm>
          <a:prstGeom prst="roundRect">
            <a:avLst>
              <a:gd name="adj" fmla="val 5161"/>
            </a:avLst>
          </a:prstGeom>
          <a:solidFill>
            <a:srgbClr val="B850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084832" y="107899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&amp; Cleaning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084832" y="1481328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5E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vis fix · fat label dedupe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5E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type prefix extraction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657600" y="1664208"/>
            <a:ext cx="146304" cy="7315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803904" y="1005840"/>
            <a:ext cx="1572768" cy="1417320"/>
          </a:xfrm>
          <a:prstGeom prst="roundRect">
            <a:avLst>
              <a:gd name="adj" fmla="val 5161"/>
            </a:avLst>
          </a:prstGeom>
          <a:solidFill>
            <a:srgbClr val="B850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803904" y="107899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03904" y="1481328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5E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MRP bin · calorie map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5E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transforms · ANOVA selection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376672" y="1664208"/>
            <a:ext cx="146304" cy="7315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522976" y="1005840"/>
            <a:ext cx="1572768" cy="1417320"/>
          </a:xfrm>
          <a:prstGeom prst="roundRect">
            <a:avLst>
              <a:gd name="adj" fmla="val 5161"/>
            </a:avLst>
          </a:prstGeom>
          <a:solidFill>
            <a:srgbClr val="8B3A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522976" y="107899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1: Predict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522976" y="1481328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5E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Bagging + tuned GBR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5E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0.519 · R² 0.738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095744" y="1664208"/>
            <a:ext cx="146304" cy="7315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242048" y="1005840"/>
            <a:ext cx="1572768" cy="1417320"/>
          </a:xfrm>
          <a:prstGeom prst="roundRect">
            <a:avLst>
              <a:gd name="adj" fmla="val 5161"/>
            </a:avLst>
          </a:prstGeom>
          <a:solidFill>
            <a:srgbClr val="4A7C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242048" y="107899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2: PyOD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242048" y="1481328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5E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detectors · 8 categories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5E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427 anomalies, 83 high-conf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2633472"/>
            <a:ext cx="411480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7200" y="3090672"/>
            <a:ext cx="54864" cy="512064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21792" y="2724912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Prediction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8368" y="3108960"/>
            <a:ext cx="3822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Item_Outlet_Sales (log-transformed). 5-fold CV + holdout evaluation. Bagging + tuned GBR wins (both methods agree). Predictions exported for test set (5,681 rows, no negatives).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809744" y="2633472"/>
            <a:ext cx="411480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809744" y="3090672"/>
            <a:ext cx="54864" cy="512064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974336" y="2724912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Discovery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10912" y="3108960"/>
            <a:ext cx="3822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discarding anomalies as noise, classify them into 8 interpretable business categories (High Price/Low Sales, Low Visibility/High Sales, etc.) with binomial segment testing.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3749040"/>
            <a:ext cx="411480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57200" y="4206240"/>
            <a:ext cx="54864" cy="512064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21792" y="38404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preprocessed data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58368" y="4224528"/>
            <a:ext cx="3822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train_precleaned.csv saved at end of EDA — ensures both notebooks use identical imputed values with no re-processing drift or leakage between notebooks.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809744" y="3749040"/>
            <a:ext cx="411480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809744" y="4206240"/>
            <a:ext cx="54864" cy="512064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974336" y="38404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010912" y="4224528"/>
            <a:ext cx="3822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Dual-perspective: Part 1 answers 'how much will this sell?' — Part 2 answers 'which products/outlets behave unexpectedly and why?'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57200" y="48463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BigMart Sales Project  ·  Prediction &amp; Anomaly Detection</a:t>
            </a:r>
            <a:endParaRPr lang="en-US" sz="850" dirty="0"/>
          </a:p>
        </p:txBody>
      </p:sp>
      <p:pic>
        <p:nvPicPr>
          <p:cNvPr id="42" name="Audio 41">
            <a:hlinkClick r:id="" action="ppaction://media"/>
            <a:extLst>
              <a:ext uri="{FF2B5EF4-FFF2-40B4-BE49-F238E27FC236}">
                <a16:creationId xmlns:a16="http://schemas.microsoft.com/office/drawing/2014/main" id="{9F94A11C-3A55-9B50-2ADB-C4B2771D5ED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76563" t="-76563" r="-76563" b="-76563"/>
          <a:stretch>
            <a:fillRect/>
          </a:stretch>
        </p:blipFill>
        <p:spPr>
          <a:xfrm>
            <a:off x="7539228" y="3538728"/>
            <a:ext cx="1543050" cy="154305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246"/>
    </mc:Choice>
    <mc:Fallback>
      <p:transition spd="slow" advTm="3024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2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8B3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&amp; Preprocessing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920240" cy="1115568"/>
          </a:xfrm>
          <a:prstGeom prst="roundRect">
            <a:avLst>
              <a:gd name="adj" fmla="val 6557"/>
            </a:avLst>
          </a:prstGeom>
          <a:solidFill>
            <a:srgbClr val="B850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98755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~17%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Item_Weight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542032" y="914400"/>
            <a:ext cx="1920240" cy="1115568"/>
          </a:xfrm>
          <a:prstGeom prst="roundRect">
            <a:avLst>
              <a:gd name="adj" fmla="val 6557"/>
            </a:avLst>
          </a:prstGeom>
          <a:solidFill>
            <a:srgbClr val="B850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542032" y="98755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542032" y="153619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Outlet_Size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26864" y="914400"/>
            <a:ext cx="1920240" cy="1115568"/>
          </a:xfrm>
          <a:prstGeom prst="roundRect">
            <a:avLst>
              <a:gd name="adj" fmla="val 6557"/>
            </a:avLst>
          </a:prstGeom>
          <a:solidFill>
            <a:srgbClr val="B850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26864" y="98755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626864" y="153619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Item_Visibility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implausible zeros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711696" y="914400"/>
            <a:ext cx="1920240" cy="1115568"/>
          </a:xfrm>
          <a:prstGeom prst="roundRect">
            <a:avLst>
              <a:gd name="adj" fmla="val 6557"/>
            </a:avLst>
          </a:prstGeom>
          <a:solidFill>
            <a:srgbClr val="B850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711696" y="98755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711696" y="153619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label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variants cleaned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084832"/>
            <a:ext cx="4114800" cy="859536"/>
          </a:xfrm>
          <a:prstGeom prst="roundRect">
            <a:avLst>
              <a:gd name="adj" fmla="val 744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2542032"/>
            <a:ext cx="54864" cy="3657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1792" y="2176272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visibility as missing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" y="2560320"/>
            <a:ext cx="38221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Item_Visibility = 0 is physically implausible on a shelf. Replaced with NaN, imputed via Item_Identifier group mean (training only). IQR cap applied post-imputation.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809744" y="2084832"/>
            <a:ext cx="4114800" cy="859536"/>
          </a:xfrm>
          <a:prstGeom prst="roundRect">
            <a:avLst>
              <a:gd name="adj" fmla="val 744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809744" y="2542032"/>
            <a:ext cx="54864" cy="365760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74336" y="2176272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label deduplication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10912" y="2560320"/>
            <a:ext cx="38221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'LF', 'low fat' → 'Low Fat'; 'reg' → 'Regular'. Non-consumables (NC prefix) assigned 'No Fat' — fat content is meaningless for household goods.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044952"/>
            <a:ext cx="4114800" cy="859536"/>
          </a:xfrm>
          <a:prstGeom prst="roundRect">
            <a:avLst>
              <a:gd name="adj" fmla="val 744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7200" y="3502152"/>
            <a:ext cx="54864" cy="365760"/>
          </a:xfrm>
          <a:prstGeom prst="rect">
            <a:avLst/>
          </a:prstGeom>
          <a:solidFill>
            <a:srgbClr val="D4812A"/>
          </a:solidFill>
          <a:ln w="12700">
            <a:solidFill>
              <a:srgbClr val="D481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21792" y="3136392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8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Skewness in features (obs.)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" y="3520440"/>
            <a:ext cx="38221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skew=1.99 → sqrt transform. Item_Visibility skew=0.77 → log. Item_MRP and Item_Weight near-symmetric (skew ~0.07–0.11) — no transform needed. BMI and BloodPressure-analogue features left-skewed → drove the RobustScaler choice.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09744" y="3044952"/>
            <a:ext cx="4114800" cy="859536"/>
          </a:xfrm>
          <a:prstGeom prst="roundRect">
            <a:avLst>
              <a:gd name="adj" fmla="val 744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809744" y="3502152"/>
            <a:ext cx="54864" cy="365760"/>
          </a:xfrm>
          <a:prstGeom prst="rect">
            <a:avLst/>
          </a:prstGeom>
          <a:solidFill>
            <a:srgbClr val="8B3A2C"/>
          </a:solidFill>
          <a:ln w="12700">
            <a:solidFill>
              <a:srgbClr val="8B3A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974336" y="3136392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Outlet_Size unknown → Small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10912" y="3520440"/>
            <a:ext cx="38221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outlets are all Grocery Store or Supermarket Type 1. Cross-tab + bar plots confirm same sales/visibility pattern as Small. Imputed deterministically.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4005072"/>
            <a:ext cx="4114800" cy="859536"/>
          </a:xfrm>
          <a:prstGeom prst="roundRect">
            <a:avLst>
              <a:gd name="adj" fmla="val 744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57200" y="4462272"/>
            <a:ext cx="54864" cy="3657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21792" y="4096512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Train-only imputation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58368" y="4480560"/>
            <a:ext cx="38221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median/mean imputation fit on X_train only. X_test and df_test transform using X_train statistics. Group-level hierarchy: Item_Identifier → global mean safety net.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09744" y="4005072"/>
            <a:ext cx="4114800" cy="859536"/>
          </a:xfrm>
          <a:prstGeom prst="roundRect">
            <a:avLst>
              <a:gd name="adj" fmla="val 744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809744" y="4462272"/>
            <a:ext cx="54864" cy="3657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974336" y="4032831"/>
            <a:ext cx="3858768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paradox (obs.)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929922" y="4234325"/>
            <a:ext cx="3921470" cy="628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4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Item_Visibility</a:t>
            </a:r>
            <a:r>
              <a:rPr lang="en-US" sz="1050" dirty="0">
                <a:solidFill>
                  <a:srgbClr val="4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weak but significant negative correlation with sales (r = −0.087). Counterintuitive: zero-visibility items still sell — likely staples with stable demand regardless of shelf position. Effect size is small so practical impact is limited; real signal lies in Outlet_Type and Item_MRP.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57200" y="48463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BigMart Sales Project  ·  Prediction &amp; Anomaly Detection</a:t>
            </a:r>
            <a:endParaRPr lang="en-US" sz="850" dirty="0"/>
          </a:p>
        </p:txBody>
      </p:sp>
      <p:pic>
        <p:nvPicPr>
          <p:cNvPr id="43" name="Audio 42">
            <a:hlinkClick r:id="" action="ppaction://media"/>
            <a:extLst>
              <a:ext uri="{FF2B5EF4-FFF2-40B4-BE49-F238E27FC236}">
                <a16:creationId xmlns:a16="http://schemas.microsoft.com/office/drawing/2014/main" id="{0A6FBEA4-E2F4-899F-38B3-4B48ECDBA62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76563" t="-76563" r="-76563" b="-76563"/>
          <a:stretch>
            <a:fillRect/>
          </a:stretch>
        </p:blipFill>
        <p:spPr>
          <a:xfrm>
            <a:off x="7539228" y="3538728"/>
            <a:ext cx="1543050" cy="154305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127"/>
    </mc:Choice>
    <mc:Fallback>
      <p:transition spd="slow" advTm="6012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3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7E8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8B3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 &amp; Selection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114800" cy="4005072"/>
          </a:xfrm>
          <a:prstGeom prst="roundRect">
            <a:avLst>
              <a:gd name="adj" fmla="val 1598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969264"/>
            <a:ext cx="64008" cy="3895344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02412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" y="1463040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MRP_bin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49808" y="16642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Quartile bins (cheap / affordable / slightly expensive / expensive). Fit on X_train, pd.cut to test.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Weight_bin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2128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Quartile bins (vlight / light / moderate / heavy). Same train-fit / test-transform.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49808" y="2560320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Calorie_Count_per_givenwt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49808" y="276148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Calorie map by Item_Type × Item_Weight. sqrt(calorie) transform (skew=1.99). Survives dedup.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49808" y="3108960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Outlet_Age / Outlet_Status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3101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= 2013 − Outlet_Establishment_Year. Status = old (&gt;20 yrs) vs new. Dropped by dedup.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49808" y="3657600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Item_Frequency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49808" y="385876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Within-category frequency encoding of Item_Type — how common that item class is in the assortment.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49808" y="4206240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log_visibility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49808" y="44074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log(Item_Visibility) corrects skew=0.77. Dropped by dedup (redundant after IQR cap).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809744" y="914400"/>
            <a:ext cx="388620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809744" y="969264"/>
            <a:ext cx="64008" cy="1170432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92624" y="1024128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(correlation &gt;0.8)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92624" y="1389888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Dropped: Calorie_Count_per_100g, Item_Weight, MRP_bin, Outlet_Establishment_Year, Outlet_Existence, log_Calorie, log_visibility.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whichever side correlated more with target.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9744" y="2340864"/>
            <a:ext cx="3886200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809744" y="2395728"/>
            <a:ext cx="64008" cy="1371600"/>
          </a:xfrm>
          <a:prstGeom prst="rect">
            <a:avLst/>
          </a:prstGeom>
          <a:solidFill>
            <a:srgbClr val="D4812A"/>
          </a:solidFill>
          <a:ln w="12700">
            <a:solidFill>
              <a:srgbClr val="D481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92624" y="245059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observations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92624" y="2816352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Store-level features dominate: Outlet_Type F=694.2, Outlet_Identifier F=232.6, Outlet_Size F=175.3.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Item_MRP (r=0.565) is the strongest continuous predictor.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significant: Item_Fat_Content (p=0.446) and Weight_bin (p=0.715) — add noise, not signal.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where the store is matters more than what the item is.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09744" y="3968496"/>
            <a:ext cx="3886200" cy="950976"/>
          </a:xfrm>
          <a:prstGeom prst="roundRect">
            <a:avLst>
              <a:gd name="adj" fmla="val 6731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809744" y="4023360"/>
            <a:ext cx="64008" cy="841248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992624" y="407822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11 features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92624" y="4425696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Outlet_Type · Item_MRP · Outlet_Identifier · Outlet_Size · Outlet_Location_Type · Item_Visibility · Item_Frequency · Item_Type · Item_Identifier_Type · Outlet_Status · Calorie_Count_per_givenwt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" y="48463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BigMart Sales Project  ·  Prediction &amp; Anomaly Detection</a:t>
            </a:r>
            <a:endParaRPr lang="en-US" sz="850" dirty="0"/>
          </a:p>
        </p:txBody>
      </p:sp>
      <p:pic>
        <p:nvPicPr>
          <p:cNvPr id="32" name="Audio 31">
            <a:hlinkClick r:id="" action="ppaction://media"/>
            <a:extLst>
              <a:ext uri="{FF2B5EF4-FFF2-40B4-BE49-F238E27FC236}">
                <a16:creationId xmlns:a16="http://schemas.microsoft.com/office/drawing/2014/main" id="{C42B4BB4-E98E-B115-8D3B-0DC97CBA976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76563" t="-76563" r="-76563" b="-76563"/>
          <a:stretch>
            <a:fillRect/>
          </a:stretch>
        </p:blipFill>
        <p:spPr>
          <a:xfrm>
            <a:off x="7539228" y="3538728"/>
            <a:ext cx="1543050" cy="154305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3248"/>
    </mc:Choice>
    <mc:Fallback>
      <p:transition spd="slow" advTm="3324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2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8B3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1 — Sales Prediction 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920240" cy="1298448"/>
          </a:xfrm>
          <a:prstGeom prst="roundRect">
            <a:avLst>
              <a:gd name="adj" fmla="val 5634"/>
            </a:avLst>
          </a:prstGeom>
          <a:solidFill>
            <a:srgbClr val="B850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987552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0.519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166420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5E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 RMSE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5E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(log scale)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542032" y="914400"/>
            <a:ext cx="1920240" cy="1298448"/>
          </a:xfrm>
          <a:prstGeom prst="roundRect">
            <a:avLst>
              <a:gd name="adj" fmla="val 5634"/>
            </a:avLst>
          </a:prstGeom>
          <a:solidFill>
            <a:srgbClr val="B850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542032" y="987552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0.400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2542032" y="166420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5E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 MAE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5E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(log scale)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26864" y="914400"/>
            <a:ext cx="1920240" cy="1298448"/>
          </a:xfrm>
          <a:prstGeom prst="roundRect">
            <a:avLst>
              <a:gd name="adj" fmla="val 5634"/>
            </a:avLst>
          </a:prstGeom>
          <a:solidFill>
            <a:srgbClr val="8B3A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26864" y="987552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0.738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26864" y="166420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5E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 R²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711696" y="914400"/>
            <a:ext cx="1920240" cy="1298448"/>
          </a:xfrm>
          <a:prstGeom prst="roundRect">
            <a:avLst>
              <a:gd name="adj" fmla="val 5634"/>
            </a:avLst>
          </a:prstGeom>
          <a:solidFill>
            <a:srgbClr val="4A7C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711696" y="987552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5,681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6711696" y="166420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5E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predictions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5E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negatives)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23774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Comparison — 5-fold CV RMSE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2194560" cy="310896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" y="27889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0" y="2788920"/>
            <a:ext cx="896112" cy="310896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788920" y="2788920"/>
            <a:ext cx="80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RMSE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749040" y="2788920"/>
            <a:ext cx="896112" cy="310896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794760" y="2788920"/>
            <a:ext cx="80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145536"/>
            <a:ext cx="2194560" cy="256032"/>
          </a:xfrm>
          <a:prstGeom prst="rect">
            <a:avLst/>
          </a:prstGeom>
          <a:solidFill>
            <a:srgbClr val="F0E0DA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2920" y="31455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Bagging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743200" y="3145536"/>
            <a:ext cx="896112" cy="256032"/>
          </a:xfrm>
          <a:prstGeom prst="rect">
            <a:avLst/>
          </a:prstGeom>
          <a:solidFill>
            <a:srgbClr val="F0E0DA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88920" y="3145536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0.523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749040" y="3145536"/>
            <a:ext cx="896112" cy="256032"/>
          </a:xfrm>
          <a:prstGeom prst="rect">
            <a:avLst/>
          </a:prstGeom>
          <a:solidFill>
            <a:srgbClr val="F0E0DA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794760" y="3145536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best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401568"/>
            <a:ext cx="2194560" cy="256032"/>
          </a:xfrm>
          <a:prstGeom prst="rect">
            <a:avLst/>
          </a:prstGeom>
          <a:solidFill>
            <a:srgbClr val="FAF6F2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02920" y="340156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743200" y="3401568"/>
            <a:ext cx="896112" cy="256032"/>
          </a:xfrm>
          <a:prstGeom prst="rect">
            <a:avLst/>
          </a:prstGeom>
          <a:solidFill>
            <a:srgbClr val="FAF6F2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788920" y="3401568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0.524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749040" y="3401568"/>
            <a:ext cx="896112" cy="256032"/>
          </a:xfrm>
          <a:prstGeom prst="rect">
            <a:avLst/>
          </a:prstGeom>
          <a:solidFill>
            <a:srgbClr val="FAF6F2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794760" y="3401568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tied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" y="3657600"/>
            <a:ext cx="219456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02920" y="36576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743200" y="3657600"/>
            <a:ext cx="89611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788920" y="3657600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0.532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749040" y="3657600"/>
            <a:ext cx="89611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794760" y="3657600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3913632"/>
            <a:ext cx="2194560" cy="256032"/>
          </a:xfrm>
          <a:prstGeom prst="rect">
            <a:avLst/>
          </a:prstGeom>
          <a:solidFill>
            <a:srgbClr val="FAF6F2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02920" y="39136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AdaBoost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743200" y="3913632"/>
            <a:ext cx="896112" cy="256032"/>
          </a:xfrm>
          <a:prstGeom prst="rect">
            <a:avLst/>
          </a:prstGeom>
          <a:solidFill>
            <a:srgbClr val="FAF6F2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788920" y="3913632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0.561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749040" y="3913632"/>
            <a:ext cx="896112" cy="256032"/>
          </a:xfrm>
          <a:prstGeom prst="rect">
            <a:avLst/>
          </a:prstGeom>
          <a:solidFill>
            <a:srgbClr val="FAF6F2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794760" y="3913632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57200" y="4169664"/>
            <a:ext cx="219456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502920" y="41696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743200" y="4169664"/>
            <a:ext cx="89611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2788920" y="4169664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0.612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749040" y="4169664"/>
            <a:ext cx="89611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3794760" y="4169664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57200" y="4425696"/>
            <a:ext cx="2194560" cy="256032"/>
          </a:xfrm>
          <a:prstGeom prst="rect">
            <a:avLst/>
          </a:prstGeom>
          <a:solidFill>
            <a:srgbClr val="FAF6F2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502920" y="442569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2743200" y="4425696"/>
            <a:ext cx="896112" cy="256032"/>
          </a:xfrm>
          <a:prstGeom prst="rect">
            <a:avLst/>
          </a:prstGeom>
          <a:solidFill>
            <a:srgbClr val="FAF6F2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2788920" y="4425696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0.614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3749040" y="4425696"/>
            <a:ext cx="896112" cy="256032"/>
          </a:xfrm>
          <a:prstGeom prst="rect">
            <a:avLst/>
          </a:prstGeom>
          <a:solidFill>
            <a:srgbClr val="FAF6F2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3794760" y="4425696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57200" y="4681728"/>
            <a:ext cx="219456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502920" y="468172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2743200" y="4681728"/>
            <a:ext cx="89611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2788920" y="4681728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749040" y="4681728"/>
            <a:ext cx="89611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3794760" y="4681728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457200" y="48463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1: Sales Prediction  ·  Target: Item_Outlet_Sales (log-transformed)</a:t>
            </a:r>
            <a:endParaRPr lang="en-US" sz="850" dirty="0"/>
          </a:p>
        </p:txBody>
      </p:sp>
      <p:pic>
        <p:nvPicPr>
          <p:cNvPr id="65" name="Audio 64">
            <a:hlinkClick r:id="" action="ppaction://media"/>
            <a:extLst>
              <a:ext uri="{FF2B5EF4-FFF2-40B4-BE49-F238E27FC236}">
                <a16:creationId xmlns:a16="http://schemas.microsoft.com/office/drawing/2014/main" id="{B61CA565-5E9B-03BB-8E82-84093C84D82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76563" t="-76563" r="-76563" b="-76563"/>
          <a:stretch>
            <a:fillRect/>
          </a:stretch>
        </p:blipFill>
        <p:spPr>
          <a:xfrm>
            <a:off x="7539228" y="3538728"/>
            <a:ext cx="1543050" cy="154305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9810"/>
    </mc:Choice>
    <mc:Fallback>
      <p:transition spd="slow" advTm="2981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5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7E8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8B3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2 — PyOD Anomaly Detection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023360" cy="4005072"/>
          </a:xfrm>
          <a:prstGeom prst="roundRect">
            <a:avLst>
              <a:gd name="adj" fmla="val 1598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969264"/>
            <a:ext cx="64008" cy="3895344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Bivariate (MRP × Sales)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Item_MRP and Item_Outlet_Sales (MinMaxScaled). Contamination=5%. Decision boundaries plotted for all 7 detectors.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2029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Bivariate silhouette scores: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359152"/>
            <a:ext cx="3621024" cy="219456"/>
          </a:xfrm>
          <a:prstGeom prst="rect">
            <a:avLst/>
          </a:prstGeom>
          <a:solidFill>
            <a:srgbClr val="F0E0DA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13232" y="235915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HBOS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560320" y="235915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0.3543 ←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2596896"/>
            <a:ext cx="3621024" cy="219456"/>
          </a:xfrm>
          <a:prstGeom prst="rect">
            <a:avLst/>
          </a:prstGeom>
          <a:solidFill>
            <a:srgbClr val="FAF6F2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13232" y="259689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560320" y="259689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0.3395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2834640"/>
            <a:ext cx="3621024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13232" y="28346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KNN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560320" y="283464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0.2983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3072384"/>
            <a:ext cx="3621024" cy="219456"/>
          </a:xfrm>
          <a:prstGeom prst="rect">
            <a:avLst/>
          </a:prstGeom>
          <a:solidFill>
            <a:srgbClr val="FAF6F2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13232" y="307238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CBLOF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60320" y="307238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0.2917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3310128"/>
            <a:ext cx="3621024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13232" y="331012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60320" y="331012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0.2824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" y="3547872"/>
            <a:ext cx="3621024" cy="219456"/>
          </a:xfrm>
          <a:prstGeom prst="rect">
            <a:avLst/>
          </a:prstGeom>
          <a:solidFill>
            <a:srgbClr val="FAF6F2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3232" y="35478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Feat. Bag.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560320" y="354787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0.2742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" y="3785616"/>
            <a:ext cx="3621024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13232" y="378561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560320" y="378561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4114800"/>
            <a:ext cx="36210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C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Obs: HBOS wins on 2D price/sales space because its histogram bins efficiently capture the MRP-Sales grid without needing density estimates. In 30D multivariate space, Isolation Forest's random partitioning generalises better.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663440" y="914400"/>
            <a:ext cx="4023360" cy="4005072"/>
          </a:xfrm>
          <a:prstGeom prst="roundRect">
            <a:avLst>
              <a:gd name="adj" fmla="val 1598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663440" y="969264"/>
            <a:ext cx="64008" cy="3895344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46320" y="1005840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Multivariate (30 features)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46320" y="1389888"/>
            <a:ext cx="3621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Adds: Item_Visibility, Item_Weight, Item_Type, Item_Fat_Content, Outlet_Type, Outlet_Size, Outlet_Location_Type, Outlet_Age. X_multi: (8523, 30). Consensus: ≥4/7 detectors.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46320" y="2121408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silhouette scores: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846320" y="2450592"/>
            <a:ext cx="3621024" cy="219456"/>
          </a:xfrm>
          <a:prstGeom prst="rect">
            <a:avLst/>
          </a:prstGeom>
          <a:solidFill>
            <a:srgbClr val="F0E0DA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919472" y="245059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949440" y="245059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0.1067 ←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846320" y="2688336"/>
            <a:ext cx="3621024" cy="219456"/>
          </a:xfrm>
          <a:prstGeom prst="rect">
            <a:avLst/>
          </a:prstGeom>
          <a:solidFill>
            <a:srgbClr val="FAF6F2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919472" y="26883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CBLOF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949440" y="268833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0.1057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46320" y="2926080"/>
            <a:ext cx="3621024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919472" y="292608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HBOS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49440" y="29260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0.1047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46320" y="3163824"/>
            <a:ext cx="3621024" cy="219456"/>
          </a:xfrm>
          <a:prstGeom prst="rect">
            <a:avLst/>
          </a:prstGeom>
          <a:solidFill>
            <a:srgbClr val="FAF6F2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919472" y="316382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KNN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949440" y="31638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0.0640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846320" y="3401568"/>
            <a:ext cx="3621024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919472" y="34015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949440" y="340156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0.0630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846320" y="3639312"/>
            <a:ext cx="3621024" cy="219456"/>
          </a:xfrm>
          <a:prstGeom prst="rect">
            <a:avLst/>
          </a:prstGeom>
          <a:solidFill>
            <a:srgbClr val="FAF6F2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919472" y="363931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Feat. Bag.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949440" y="363931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0.0629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846320" y="3877056"/>
            <a:ext cx="3621024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4919472" y="387705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ABOD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949440" y="387705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0.0491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846320" y="4114800"/>
            <a:ext cx="36210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C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Obs: widening from 2 to 30 features changes what 'unusual' means — from 'extreme price/sales pair' to 'unusual store-product combination given operational context'. Consensus across 7 independent detectors reduces false positives.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457200" y="48463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2: PyOD  ·  contamination=5%  ·  silhouette score = inlier/outlier separation</a:t>
            </a:r>
            <a:endParaRPr lang="en-US" sz="850" dirty="0"/>
          </a:p>
        </p:txBody>
      </p:sp>
      <p:pic>
        <p:nvPicPr>
          <p:cNvPr id="59" name="Audio 58">
            <a:hlinkClick r:id="" action="ppaction://media"/>
            <a:extLst>
              <a:ext uri="{FF2B5EF4-FFF2-40B4-BE49-F238E27FC236}">
                <a16:creationId xmlns:a16="http://schemas.microsoft.com/office/drawing/2014/main" id="{C635535F-0615-96F2-A19E-4D84000AC68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76563" t="-76563" r="-76563" b="-76563"/>
          <a:stretch>
            <a:fillRect/>
          </a:stretch>
        </p:blipFill>
        <p:spPr>
          <a:xfrm>
            <a:off x="7539228" y="3538728"/>
            <a:ext cx="1543050" cy="154305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1522"/>
    </mc:Choice>
    <mc:Fallback>
      <p:transition spd="slow" advTm="6152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9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8B3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Interpretable Anomaly Categories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applied as percentile-rank thresholds (≥70th = high, ≤30th = low) on full dataset. 427 anomalies categorised.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4114800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216152"/>
            <a:ext cx="64008" cy="7863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58368" y="1316736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1316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4128" y="1280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Price / Low Sales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53619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rows (21.5%)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24128" y="1737360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C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pricing; pilot markdown or value bundle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809744" y="1170432"/>
            <a:ext cx="4114800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809744" y="1216152"/>
            <a:ext cx="64008" cy="786384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010912" y="1316736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4A7C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10912" y="1316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76672" y="1280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Visibility / High Sales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376672" y="153619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rows (13.6%)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376672" y="1737360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C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shelf space; replicate placement elsewhere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130552"/>
            <a:ext cx="4114800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57200" y="2176272"/>
            <a:ext cx="64008" cy="786384"/>
          </a:xfrm>
          <a:prstGeom prst="rect">
            <a:avLst/>
          </a:prstGeom>
          <a:solidFill>
            <a:srgbClr val="D4812A"/>
          </a:solidFill>
          <a:ln w="12700">
            <a:solidFill>
              <a:srgbClr val="D481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58368" y="2276856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D481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58368" y="22768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2240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Visibility / Low Sales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24128" y="249631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 rows (33.5%)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24128" y="2697480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C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shelf placement; consider category swap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09744" y="2130552"/>
            <a:ext cx="4114800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809744" y="2176272"/>
            <a:ext cx="64008" cy="786384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010912" y="2276856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B850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10912" y="22768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76672" y="2240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Price / High Sales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376672" y="249631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rows (8.9%)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376672" y="2697480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C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margin; investigate premium bundle potential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3090672"/>
            <a:ext cx="4114800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57200" y="3136392"/>
            <a:ext cx="64008" cy="786384"/>
          </a:xfrm>
          <a:prstGeom prst="rect">
            <a:avLst/>
          </a:prstGeom>
          <a:solidFill>
            <a:srgbClr val="8B3A2C"/>
          </a:solidFill>
          <a:ln w="12700">
            <a:solidFill>
              <a:srgbClr val="8B3A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58368" y="3236976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8B3A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58368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24128" y="3200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Price / Low Sales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24128" y="34564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rows (6.6%)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024128" y="3657600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C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delisting or repositioning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09744" y="3090672"/>
            <a:ext cx="4114800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809744" y="3136392"/>
            <a:ext cx="64008" cy="786384"/>
          </a:xfrm>
          <a:prstGeom prst="rect">
            <a:avLst/>
          </a:prstGeom>
          <a:solidFill>
            <a:srgbClr val="D4812A"/>
          </a:solidFill>
          <a:ln w="12700">
            <a:solidFill>
              <a:srgbClr val="D481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010912" y="3236976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D481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010912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76672" y="3200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Calorie / High Sales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376672" y="34564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rows (5.2%)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376672" y="3657600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C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regulation watch; explore lighter variants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7200" y="4050792"/>
            <a:ext cx="4114800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57200" y="4096512"/>
            <a:ext cx="64008" cy="786384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58368" y="4197096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A7BE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58368" y="41970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24128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Calorie / Low Sales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024128" y="441655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rows (4.2%)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24128" y="4617720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C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health benefits; reposition for diet segment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09744" y="4050792"/>
            <a:ext cx="4114800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4809744" y="4096512"/>
            <a:ext cx="64008" cy="786384"/>
          </a:xfrm>
          <a:prstGeom prst="rect">
            <a:avLst/>
          </a:prstGeom>
          <a:solidFill>
            <a:srgbClr val="8C7B72"/>
          </a:solidFill>
          <a:ln w="12700">
            <a:solidFill>
              <a:srgbClr val="8C7B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5010912" y="4197096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8C7B7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5010912" y="41970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376672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Uncategorised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376672" y="441655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rows (6.6%)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5376672" y="4617720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C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multi-feature anomaly — deeper manual review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57200" y="48463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2: 8 business categories · C = largest (143 rows, 33.5%) · A = highest pricing inefficiency risk</a:t>
            </a:r>
            <a:endParaRPr lang="en-US" sz="850" dirty="0"/>
          </a:p>
        </p:txBody>
      </p:sp>
      <p:pic>
        <p:nvPicPr>
          <p:cNvPr id="62" name="Audio 61">
            <a:hlinkClick r:id="" action="ppaction://media"/>
            <a:extLst>
              <a:ext uri="{FF2B5EF4-FFF2-40B4-BE49-F238E27FC236}">
                <a16:creationId xmlns:a16="http://schemas.microsoft.com/office/drawing/2014/main" id="{EABC411F-11C1-6084-7E69-D26F65FE6E9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76563" t="-76563" r="-76563" b="-76563"/>
          <a:stretch>
            <a:fillRect/>
          </a:stretch>
        </p:blipFill>
        <p:spPr>
          <a:xfrm>
            <a:off x="7539228" y="3538728"/>
            <a:ext cx="1543050" cy="154305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3475"/>
    </mc:Choice>
    <mc:Fallback>
      <p:transition spd="slow" advTm="5347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2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7E8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8B3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Segment Signals — Binomial Testing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binomial test: is the anomaly rate significantly above the 5% baseline? (min 5 anomalies, p &lt; 0.05)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outlets flagged for investigation (obs.)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713232" cy="292608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93776" y="146304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207008" y="1463040"/>
            <a:ext cx="502920" cy="292608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43584" y="1463040"/>
            <a:ext cx="448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746504" y="1463040"/>
            <a:ext cx="749808" cy="292608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783080" y="1463040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32888" y="1463040"/>
            <a:ext cx="548640" cy="292608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569464" y="1463040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18104" y="1463040"/>
            <a:ext cx="640080" cy="292608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154680" y="1463040"/>
            <a:ext cx="585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5%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794760" y="1463040"/>
            <a:ext cx="594360" cy="292608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831336" y="1463040"/>
            <a:ext cx="539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1792224"/>
            <a:ext cx="713232" cy="237744"/>
          </a:xfrm>
          <a:prstGeom prst="rect">
            <a:avLst/>
          </a:prstGeom>
          <a:solidFill>
            <a:srgbClr val="F0E0DA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" y="1792224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OUT019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207008" y="1792224"/>
            <a:ext cx="502920" cy="237744"/>
          </a:xfrm>
          <a:prstGeom prst="rect">
            <a:avLst/>
          </a:prstGeom>
          <a:solidFill>
            <a:srgbClr val="F0E0DA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43584" y="1792224"/>
            <a:ext cx="448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528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746504" y="1792224"/>
            <a:ext cx="749808" cy="237744"/>
          </a:xfrm>
          <a:prstGeom prst="rect">
            <a:avLst/>
          </a:prstGeom>
          <a:solidFill>
            <a:srgbClr val="F0E0DA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783080" y="17922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2888" y="1792224"/>
            <a:ext cx="548640" cy="237744"/>
          </a:xfrm>
          <a:prstGeom prst="rect">
            <a:avLst/>
          </a:prstGeom>
          <a:solidFill>
            <a:srgbClr val="F0E0DA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569464" y="1792224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39.2%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118104" y="1792224"/>
            <a:ext cx="640080" cy="237744"/>
          </a:xfrm>
          <a:prstGeom prst="rect">
            <a:avLst/>
          </a:prstGeom>
          <a:solidFill>
            <a:srgbClr val="F0E0DA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154680" y="1792224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7.8×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794760" y="1792224"/>
            <a:ext cx="594360" cy="237744"/>
          </a:xfrm>
          <a:prstGeom prst="rect">
            <a:avLst/>
          </a:prstGeom>
          <a:solidFill>
            <a:srgbClr val="F0E0DA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831336" y="1792224"/>
            <a:ext cx="539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e-125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2048256"/>
            <a:ext cx="71323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93776" y="2048256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OUT010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207008" y="2048256"/>
            <a:ext cx="5029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243584" y="2048256"/>
            <a:ext cx="448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746504" y="2048256"/>
            <a:ext cx="74980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1783080" y="2048256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532888" y="2048256"/>
            <a:ext cx="5486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569464" y="2048256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11.9%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118104" y="2048256"/>
            <a:ext cx="6400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154680" y="2048256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2.4×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794760" y="2048256"/>
            <a:ext cx="5943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831336" y="2048256"/>
            <a:ext cx="539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e-10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2304288"/>
            <a:ext cx="713232" cy="237744"/>
          </a:xfrm>
          <a:prstGeom prst="rect">
            <a:avLst/>
          </a:prstGeom>
          <a:solidFill>
            <a:srgbClr val="F0E0DA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93776" y="2304288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OUT027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207008" y="2304288"/>
            <a:ext cx="502920" cy="237744"/>
          </a:xfrm>
          <a:prstGeom prst="rect">
            <a:avLst/>
          </a:prstGeom>
          <a:solidFill>
            <a:srgbClr val="F0E0DA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1243584" y="2304288"/>
            <a:ext cx="448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935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746504" y="2304288"/>
            <a:ext cx="749808" cy="237744"/>
          </a:xfrm>
          <a:prstGeom prst="rect">
            <a:avLst/>
          </a:prstGeom>
          <a:solidFill>
            <a:srgbClr val="F0E0DA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1783080" y="230428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32888" y="2304288"/>
            <a:ext cx="548640" cy="237744"/>
          </a:xfrm>
          <a:prstGeom prst="rect">
            <a:avLst/>
          </a:prstGeom>
          <a:solidFill>
            <a:srgbClr val="F0E0DA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569464" y="2304288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8.6%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18104" y="2304288"/>
            <a:ext cx="640080" cy="237744"/>
          </a:xfrm>
          <a:prstGeom prst="rect">
            <a:avLst/>
          </a:prstGeom>
          <a:solidFill>
            <a:srgbClr val="F0E0DA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154680" y="2304288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1.7×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94760" y="2304288"/>
            <a:ext cx="594360" cy="237744"/>
          </a:xfrm>
          <a:prstGeom prst="rect">
            <a:avLst/>
          </a:prstGeom>
          <a:solidFill>
            <a:srgbClr val="F0E0DA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3831336" y="2304288"/>
            <a:ext cx="539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e-06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2560320"/>
            <a:ext cx="71323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493776" y="25603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OUT018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1207008" y="2560320"/>
            <a:ext cx="5029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1243584" y="2560320"/>
            <a:ext cx="448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928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746504" y="2560320"/>
            <a:ext cx="74980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1783080" y="2560320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532888" y="2560320"/>
            <a:ext cx="5486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2569464" y="2560320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6.4%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118104" y="2560320"/>
            <a:ext cx="6400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3154680" y="256032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1.3×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3794760" y="2560320"/>
            <a:ext cx="5943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3831336" y="2560320"/>
            <a:ext cx="539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0.038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457200" y="292608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Item-type signals (obs. — after NC dedup)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457200" y="3291840"/>
            <a:ext cx="914400" cy="292608"/>
          </a:xfrm>
          <a:prstGeom prst="rect">
            <a:avLst/>
          </a:prstGeom>
          <a:solidFill>
            <a:srgbClr val="8B3A2C"/>
          </a:solidFill>
          <a:ln w="12700">
            <a:solidFill>
              <a:srgbClr val="8B3A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493776" y="3291840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Type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1408176" y="3291840"/>
            <a:ext cx="502920" cy="292608"/>
          </a:xfrm>
          <a:prstGeom prst="rect">
            <a:avLst/>
          </a:prstGeom>
          <a:solidFill>
            <a:srgbClr val="8B3A2C"/>
          </a:solidFill>
          <a:ln w="12700">
            <a:solidFill>
              <a:srgbClr val="8B3A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1444752" y="3291840"/>
            <a:ext cx="448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1947672" y="3291840"/>
            <a:ext cx="548640" cy="292608"/>
          </a:xfrm>
          <a:prstGeom prst="rect">
            <a:avLst/>
          </a:prstGeom>
          <a:solidFill>
            <a:srgbClr val="8B3A2C"/>
          </a:solidFill>
          <a:ln w="12700">
            <a:solidFill>
              <a:srgbClr val="8B3A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1984248" y="3291840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2532888" y="3291840"/>
            <a:ext cx="548640" cy="292608"/>
          </a:xfrm>
          <a:prstGeom prst="rect">
            <a:avLst/>
          </a:prstGeom>
          <a:solidFill>
            <a:srgbClr val="8B3A2C"/>
          </a:solidFill>
          <a:ln w="12700">
            <a:solidFill>
              <a:srgbClr val="8B3A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2569464" y="3291840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base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3118104" y="3291840"/>
            <a:ext cx="1280160" cy="292608"/>
          </a:xfrm>
          <a:prstGeom prst="rect">
            <a:avLst/>
          </a:prstGeom>
          <a:solidFill>
            <a:srgbClr val="8B3A2C"/>
          </a:solidFill>
          <a:ln w="12700">
            <a:solidFill>
              <a:srgbClr val="8B3A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3154680" y="3291840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457200" y="3621024"/>
            <a:ext cx="9144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493776" y="362102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Seafood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1408176" y="3621024"/>
            <a:ext cx="5029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1444752" y="3621024"/>
            <a:ext cx="448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1947672" y="3621024"/>
            <a:ext cx="5486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1984248" y="3621024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~15%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2532888" y="3621024"/>
            <a:ext cx="5486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2569464" y="3621024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~3×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3118104" y="3621024"/>
            <a:ext cx="12801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3154680" y="362102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457200" y="3877056"/>
            <a:ext cx="914400" cy="237744"/>
          </a:xfrm>
          <a:prstGeom prst="rect">
            <a:avLst/>
          </a:prstGeom>
          <a:solidFill>
            <a:srgbClr val="FAF6F2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493776" y="3877056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B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Starchy F.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1408176" y="3877056"/>
            <a:ext cx="502920" cy="237744"/>
          </a:xfrm>
          <a:prstGeom prst="rect">
            <a:avLst/>
          </a:prstGeom>
          <a:solidFill>
            <a:srgbClr val="FAF6F2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1444752" y="3877056"/>
            <a:ext cx="448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~120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1947672" y="3877056"/>
            <a:ext cx="548640" cy="237744"/>
          </a:xfrm>
          <a:prstGeom prst="rect">
            <a:avLst/>
          </a:prstGeom>
          <a:solidFill>
            <a:srgbClr val="FAF6F2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1984248" y="3877056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2532888" y="3877056"/>
            <a:ext cx="548640" cy="237744"/>
          </a:xfrm>
          <a:prstGeom prst="rect">
            <a:avLst/>
          </a:prstGeom>
          <a:solidFill>
            <a:srgbClr val="FAF6F2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2569464" y="3877056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~2×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3118104" y="3877056"/>
            <a:ext cx="1280160" cy="237744"/>
          </a:xfrm>
          <a:prstGeom prst="rect">
            <a:avLst/>
          </a:prstGeom>
          <a:solidFill>
            <a:srgbClr val="FAF6F2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3154680" y="387705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457200" y="4133088"/>
            <a:ext cx="914400" cy="237744"/>
          </a:xfrm>
          <a:prstGeom prst="rect">
            <a:avLst/>
          </a:prstGeom>
          <a:solidFill>
            <a:srgbClr val="F0F0F0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Text 95"/>
          <p:cNvSpPr/>
          <p:nvPr/>
        </p:nvSpPr>
        <p:spPr>
          <a:xfrm>
            <a:off x="493776" y="4133088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i="1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Others (NC)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1408176" y="4133088"/>
            <a:ext cx="502920" cy="237744"/>
          </a:xfrm>
          <a:prstGeom prst="rect">
            <a:avLst/>
          </a:prstGeom>
          <a:solidFill>
            <a:srgbClr val="F0F0F0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97"/>
          <p:cNvSpPr/>
          <p:nvPr/>
        </p:nvSpPr>
        <p:spPr>
          <a:xfrm>
            <a:off x="1444752" y="4133088"/>
            <a:ext cx="448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~200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1947672" y="4133088"/>
            <a:ext cx="548640" cy="237744"/>
          </a:xfrm>
          <a:prstGeom prst="rect">
            <a:avLst/>
          </a:prstGeom>
          <a:solidFill>
            <a:srgbClr val="F0F0F0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1984248" y="4133088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~15%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2532888" y="4133088"/>
            <a:ext cx="548640" cy="237744"/>
          </a:xfrm>
          <a:prstGeom prst="rect">
            <a:avLst/>
          </a:prstGeom>
          <a:solidFill>
            <a:srgbClr val="F0F0F0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Text 101"/>
          <p:cNvSpPr/>
          <p:nvPr/>
        </p:nvSpPr>
        <p:spPr>
          <a:xfrm>
            <a:off x="2569464" y="4133088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~3×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3118104" y="4133088"/>
            <a:ext cx="1280160" cy="237744"/>
          </a:xfrm>
          <a:prstGeom prst="rect">
            <a:avLst/>
          </a:prstGeom>
          <a:solidFill>
            <a:srgbClr val="F0F0F0"/>
          </a:solidFill>
          <a:ln w="12700">
            <a:solidFill>
              <a:srgbClr val="E0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 103"/>
          <p:cNvSpPr/>
          <p:nvPr/>
        </p:nvSpPr>
        <p:spPr>
          <a:xfrm>
            <a:off x="3154680" y="4133088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— skip</a:t>
            </a:r>
            <a:endParaRPr lang="en-US" sz="900" dirty="0"/>
          </a:p>
        </p:txBody>
      </p:sp>
      <p:sp>
        <p:nvSpPr>
          <p:cNvPr id="106" name="Text 104"/>
          <p:cNvSpPr/>
          <p:nvPr/>
        </p:nvSpPr>
        <p:spPr>
          <a:xfrm>
            <a:off x="457200" y="449884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C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Obs: Starchy Foods also shows largest downward outliers in residual analysis — model overpredicts for specific low-selling Starchy Foods combinations. Consistent with both PyOD and prediction notebook flagging this segment.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4809744" y="1097280"/>
            <a:ext cx="3886200" cy="859536"/>
          </a:xfrm>
          <a:prstGeom prst="roundRect">
            <a:avLst>
              <a:gd name="adj" fmla="val 744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4809744" y="1554480"/>
            <a:ext cx="54864" cy="3657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Text 107"/>
          <p:cNvSpPr/>
          <p:nvPr/>
        </p:nvSpPr>
        <p:spPr>
          <a:xfrm>
            <a:off x="4974336" y="1188720"/>
            <a:ext cx="3630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OUT019 — critical</a:t>
            </a:r>
            <a:endParaRPr lang="en-US" sz="1200" dirty="0"/>
          </a:p>
        </p:txBody>
      </p:sp>
      <p:sp>
        <p:nvSpPr>
          <p:cNvPr id="110" name="Text 108"/>
          <p:cNvSpPr/>
          <p:nvPr/>
        </p:nvSpPr>
        <p:spPr>
          <a:xfrm>
            <a:off x="5010912" y="1572768"/>
            <a:ext cx="35935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39.2% anomaly rate (7.8× baseline, p≈e⁻¹²⁵). 207 flagged rows. Likely data quality issue or genuinely distinct demand pattern. First priority for investigation.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4809744" y="2057400"/>
            <a:ext cx="3886200" cy="859536"/>
          </a:xfrm>
          <a:prstGeom prst="roundRect">
            <a:avLst>
              <a:gd name="adj" fmla="val 744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4809744" y="2514600"/>
            <a:ext cx="54864" cy="365760"/>
          </a:xfrm>
          <a:prstGeom prst="rect">
            <a:avLst/>
          </a:prstGeom>
          <a:solidFill>
            <a:srgbClr val="D4812A"/>
          </a:solidFill>
          <a:ln w="12700">
            <a:solidFill>
              <a:srgbClr val="D481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Text 111"/>
          <p:cNvSpPr/>
          <p:nvPr/>
        </p:nvSpPr>
        <p:spPr>
          <a:xfrm>
            <a:off x="4974336" y="2148840"/>
            <a:ext cx="3630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8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OUT027 — elevated</a:t>
            </a:r>
            <a:endParaRPr lang="en-US" sz="1200" dirty="0"/>
          </a:p>
        </p:txBody>
      </p:sp>
      <p:sp>
        <p:nvSpPr>
          <p:cNvPr id="114" name="Text 112"/>
          <p:cNvSpPr/>
          <p:nvPr/>
        </p:nvSpPr>
        <p:spPr>
          <a:xfrm>
            <a:off x="5010912" y="2532888"/>
            <a:ext cx="35935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8.6% rate (1.7× baseline, p=3.3e-6). High-volume outlet (mean sales 3,694 vs dataset mean 2,181) — also shows widest prediction residuals.</a:t>
            </a:r>
            <a:endParaRPr lang="en-US" sz="1050" dirty="0"/>
          </a:p>
        </p:txBody>
      </p:sp>
      <p:sp>
        <p:nvSpPr>
          <p:cNvPr id="115" name="Shape 113"/>
          <p:cNvSpPr/>
          <p:nvPr/>
        </p:nvSpPr>
        <p:spPr>
          <a:xfrm>
            <a:off x="4809744" y="3017520"/>
            <a:ext cx="3886200" cy="859536"/>
          </a:xfrm>
          <a:prstGeom prst="roundRect">
            <a:avLst>
              <a:gd name="adj" fmla="val 744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4809744" y="3474720"/>
            <a:ext cx="54864" cy="3657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Text 115"/>
          <p:cNvSpPr/>
          <p:nvPr/>
        </p:nvSpPr>
        <p:spPr>
          <a:xfrm>
            <a:off x="4974336" y="3108960"/>
            <a:ext cx="3630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 item deduplication</a:t>
            </a:r>
            <a:endParaRPr lang="en-US" sz="1200" dirty="0"/>
          </a:p>
        </p:txBody>
      </p:sp>
      <p:sp>
        <p:nvSpPr>
          <p:cNvPr id="118" name="Text 116"/>
          <p:cNvSpPr/>
          <p:nvPr/>
        </p:nvSpPr>
        <p:spPr>
          <a:xfrm>
            <a:off x="5010912" y="3493008"/>
            <a:ext cx="35935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Others/Household/Health items share the NC prefix population. Deduped to avoid triple-counting one underlying signal.</a:t>
            </a:r>
            <a:endParaRPr lang="en-US" sz="1050" dirty="0"/>
          </a:p>
        </p:txBody>
      </p:sp>
      <p:sp>
        <p:nvSpPr>
          <p:cNvPr id="119" name="Shape 117"/>
          <p:cNvSpPr/>
          <p:nvPr/>
        </p:nvSpPr>
        <p:spPr>
          <a:xfrm>
            <a:off x="4809744" y="3977640"/>
            <a:ext cx="3886200" cy="859536"/>
          </a:xfrm>
          <a:prstGeom prst="roundRect">
            <a:avLst>
              <a:gd name="adj" fmla="val 744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4809744" y="4434840"/>
            <a:ext cx="54864" cy="3657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Text 119"/>
          <p:cNvSpPr/>
          <p:nvPr/>
        </p:nvSpPr>
        <p:spPr>
          <a:xfrm>
            <a:off x="4974336" y="4069080"/>
            <a:ext cx="3630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 high-confidence</a:t>
            </a:r>
            <a:endParaRPr lang="en-US" sz="1200" dirty="0"/>
          </a:p>
        </p:txBody>
      </p:sp>
      <p:sp>
        <p:nvSpPr>
          <p:cNvPr id="122" name="Text 120"/>
          <p:cNvSpPr/>
          <p:nvPr/>
        </p:nvSpPr>
        <p:spPr>
          <a:xfrm>
            <a:off x="5010912" y="4453128"/>
            <a:ext cx="35935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Corroborated by ≥4/7 independent detectors. Treat as real signals. Remaining 344 are candidates requiring further review.</a:t>
            </a:r>
            <a:endParaRPr lang="en-US" sz="1050" dirty="0"/>
          </a:p>
        </p:txBody>
      </p:sp>
      <p:sp>
        <p:nvSpPr>
          <p:cNvPr id="123" name="Text 121"/>
          <p:cNvSpPr/>
          <p:nvPr/>
        </p:nvSpPr>
        <p:spPr>
          <a:xfrm>
            <a:off x="457200" y="48463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2: binomial test per segment · baseline=5% contamination · p &lt; 0.05 threshold</a:t>
            </a:r>
            <a:endParaRPr lang="en-US" sz="850" dirty="0"/>
          </a:p>
        </p:txBody>
      </p:sp>
      <p:pic>
        <p:nvPicPr>
          <p:cNvPr id="125" name="Audio 124">
            <a:hlinkClick r:id="" action="ppaction://media"/>
            <a:extLst>
              <a:ext uri="{FF2B5EF4-FFF2-40B4-BE49-F238E27FC236}">
                <a16:creationId xmlns:a16="http://schemas.microsoft.com/office/drawing/2014/main" id="{6E0EBF24-BCFA-E14B-F259-947E9E5DEF1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76563" t="-76563" r="-76563" b="-76563"/>
          <a:stretch>
            <a:fillRect/>
          </a:stretch>
        </p:blipFill>
        <p:spPr>
          <a:xfrm>
            <a:off x="7539228" y="3538728"/>
            <a:ext cx="1543050" cy="154305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2379"/>
    </mc:Choice>
    <mc:Fallback>
      <p:transition spd="slow" advTm="6237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5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0E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Signals Summary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615184" cy="1261872"/>
          </a:xfrm>
          <a:prstGeom prst="roundRect">
            <a:avLst>
              <a:gd name="adj" fmla="val 5797"/>
            </a:avLst>
          </a:prstGeom>
          <a:solidFill>
            <a:srgbClr val="2A100A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969264"/>
            <a:ext cx="64008" cy="1152144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21792" y="1005840"/>
            <a:ext cx="2304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427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21792" y="1719072"/>
            <a:ext cx="2304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anomalies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(5% contamination)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0128" y="914400"/>
            <a:ext cx="2615184" cy="1261872"/>
          </a:xfrm>
          <a:prstGeom prst="roundRect">
            <a:avLst>
              <a:gd name="adj" fmla="val 5797"/>
            </a:avLst>
          </a:prstGeom>
          <a:solidFill>
            <a:srgbClr val="2A100A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310128" y="969264"/>
            <a:ext cx="64008" cy="1152144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474720" y="1005840"/>
            <a:ext cx="2304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3474720" y="1719072"/>
            <a:ext cx="2304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High-confidence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(≥4/7 detectors)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63056" y="914400"/>
            <a:ext cx="2615184" cy="1261872"/>
          </a:xfrm>
          <a:prstGeom prst="roundRect">
            <a:avLst>
              <a:gd name="adj" fmla="val 5797"/>
            </a:avLst>
          </a:prstGeom>
          <a:solidFill>
            <a:srgbClr val="2A100A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163056" y="969264"/>
            <a:ext cx="64008" cy="1152144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27648" y="1005840"/>
            <a:ext cx="2304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6327648" y="1719072"/>
            <a:ext cx="2304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segment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after dedup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359152"/>
            <a:ext cx="4114800" cy="1170432"/>
          </a:xfrm>
          <a:prstGeom prst="roundRect">
            <a:avLst>
              <a:gd name="adj" fmla="val 5469"/>
            </a:avLst>
          </a:prstGeom>
          <a:solidFill>
            <a:srgbClr val="2A100A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2414016"/>
            <a:ext cx="64008" cy="106070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58368" y="2505456"/>
            <a:ext cx="402336" cy="274320"/>
          </a:xfrm>
          <a:prstGeom prst="roundRect">
            <a:avLst>
              <a:gd name="adj" fmla="val 13333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58368" y="250545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52144" y="2487168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Price / Low Sales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" y="283464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rows · Pilot markdown or value bundle — these items have the MRP to sell more if priced more competitively.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809744" y="2359152"/>
            <a:ext cx="4114800" cy="1170432"/>
          </a:xfrm>
          <a:prstGeom prst="roundRect">
            <a:avLst>
              <a:gd name="adj" fmla="val 5469"/>
            </a:avLst>
          </a:prstGeom>
          <a:solidFill>
            <a:srgbClr val="2A100A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809744" y="2414016"/>
            <a:ext cx="64008" cy="1060704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10912" y="2505456"/>
            <a:ext cx="402336" cy="274320"/>
          </a:xfrm>
          <a:prstGeom prst="roundRect">
            <a:avLst>
              <a:gd name="adj" fmla="val 13333"/>
            </a:avLst>
          </a:prstGeom>
          <a:solidFill>
            <a:srgbClr val="4A7C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10912" y="250545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504688" y="2487168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Visibility / High Sales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10912" y="283464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rows · Hidden high-demand products — selling well despite poor shelf position. Boost placement to unlock full potential; replicate placement in peer outlets.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639312"/>
            <a:ext cx="4114800" cy="1170432"/>
          </a:xfrm>
          <a:prstGeom prst="roundRect">
            <a:avLst>
              <a:gd name="adj" fmla="val 5469"/>
            </a:avLst>
          </a:prstGeom>
          <a:solidFill>
            <a:srgbClr val="2A100A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57200" y="3694176"/>
            <a:ext cx="64008" cy="1060704"/>
          </a:xfrm>
          <a:prstGeom prst="rect">
            <a:avLst/>
          </a:prstGeom>
          <a:solidFill>
            <a:srgbClr val="D4812A"/>
          </a:solidFill>
          <a:ln w="12700">
            <a:solidFill>
              <a:srgbClr val="D481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58368" y="3785616"/>
            <a:ext cx="402336" cy="274320"/>
          </a:xfrm>
          <a:prstGeom prst="roundRect">
            <a:avLst>
              <a:gd name="adj" fmla="val 13333"/>
            </a:avLst>
          </a:prstGeom>
          <a:solidFill>
            <a:srgbClr val="D481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58368" y="378561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52144" y="3767328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Visibility / Low Sales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8368" y="411480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 rows · Shelf-space waste — most common category (33.5%). Audit layout; pilot category substitution or promotional reset.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809744" y="3639312"/>
            <a:ext cx="4114800" cy="1170432"/>
          </a:xfrm>
          <a:prstGeom prst="roundRect">
            <a:avLst>
              <a:gd name="adj" fmla="val 5469"/>
            </a:avLst>
          </a:prstGeom>
          <a:solidFill>
            <a:srgbClr val="2A100A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809744" y="3694176"/>
            <a:ext cx="64008" cy="106070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5010912" y="3785616"/>
            <a:ext cx="402336" cy="274320"/>
          </a:xfrm>
          <a:prstGeom prst="roundRect">
            <a:avLst>
              <a:gd name="adj" fmla="val 13333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010912" y="378561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OUT019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04688" y="3767328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Outlet-level anomaly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010912" y="411480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 rows · 39.2% anomaly rate (7.8× baseline). OUT027 also flagged (8.6%). Audit data quality and store-specific demand patterns.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57200" y="48463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 high-confidence anomalies corroborated by ≥4/7 independent detectors</a:t>
            </a:r>
            <a:endParaRPr lang="en-US" sz="850" dirty="0"/>
          </a:p>
        </p:txBody>
      </p:sp>
      <p:pic>
        <p:nvPicPr>
          <p:cNvPr id="41" name="Audio 40">
            <a:hlinkClick r:id="" action="ppaction://media"/>
            <a:extLst>
              <a:ext uri="{FF2B5EF4-FFF2-40B4-BE49-F238E27FC236}">
                <a16:creationId xmlns:a16="http://schemas.microsoft.com/office/drawing/2014/main" id="{F7ABDE60-82E9-A716-CA3C-20CAC3D4535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76563" t="-76563" r="-76563" b="-76563"/>
          <a:stretch>
            <a:fillRect/>
          </a:stretch>
        </p:blipFill>
        <p:spPr>
          <a:xfrm>
            <a:off x="7539228" y="3538728"/>
            <a:ext cx="1543050" cy="154305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3700"/>
    </mc:Choice>
    <mc:Fallback>
      <p:transition spd="slow" advTm="337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1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0E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 &amp; Next Steps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87552"/>
            <a:ext cx="4114800" cy="1207008"/>
          </a:xfrm>
          <a:prstGeom prst="roundRect">
            <a:avLst>
              <a:gd name="adj" fmla="val 5303"/>
            </a:avLst>
          </a:prstGeom>
          <a:solidFill>
            <a:srgbClr val="2A100A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42416"/>
            <a:ext cx="64008" cy="109728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58368" y="109728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Prediction: Bagging wins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" y="1444752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0.519 · R² 0.738 · CV-holdout aligned. OOF RMSE = CV mean exactly (leakage-free). Tuning added nothing — variance reduction was the gain. Grocery Store: most reliably predicted outlet. Type3: widest residuals but it's a scale effect, not model failure.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809744" y="987552"/>
            <a:ext cx="4114800" cy="1207008"/>
          </a:xfrm>
          <a:prstGeom prst="roundRect">
            <a:avLst>
              <a:gd name="adj" fmla="val 5303"/>
            </a:avLst>
          </a:prstGeom>
          <a:solidFill>
            <a:srgbClr val="2A100A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09744" y="1042416"/>
            <a:ext cx="64008" cy="109728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10912" y="109728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Anomaly: dual-phase PyOD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10912" y="1444752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Bivariate: HBOS best (silhouette 0.35). Multivariate 30-feature: Isolation Forest best (0.107). Winner changes because 'unusual' shifts from extreme price/sales to unusual store-product context. Consensus ≥4/7 → 83 high-confidence rows.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304288"/>
            <a:ext cx="4114800" cy="1207008"/>
          </a:xfrm>
          <a:prstGeom prst="roundRect">
            <a:avLst>
              <a:gd name="adj" fmla="val 5303"/>
            </a:avLst>
          </a:prstGeom>
          <a:solidFill>
            <a:srgbClr val="2A100A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2359152"/>
            <a:ext cx="64008" cy="1097280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58368" y="241401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Business categories work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" y="27614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percentile-rank categories convert 427 flagged rows into actionable signals. Cat C (143 rows) = shelf-space waste. Cat B (58 rows) = hidden demand. Key insight: store-level features (Outlet_Type, Item_MRP) dominate; item-level attributes (Fat_Content, Weight_bin) add noise.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809744" y="2304288"/>
            <a:ext cx="4114800" cy="1207008"/>
          </a:xfrm>
          <a:prstGeom prst="roundRect">
            <a:avLst>
              <a:gd name="adj" fmla="val 5303"/>
            </a:avLst>
          </a:prstGeom>
          <a:solidFill>
            <a:srgbClr val="2A100A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09744" y="2359152"/>
            <a:ext cx="64008" cy="1097280"/>
          </a:xfrm>
          <a:prstGeom prst="rect">
            <a:avLst/>
          </a:prstGeom>
          <a:solidFill>
            <a:srgbClr val="D4812A"/>
          </a:solidFill>
          <a:ln w="12700">
            <a:solidFill>
              <a:srgbClr val="D481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10912" y="241401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Log bias + feature drops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10912" y="27614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exp(ŷ) retransformation introduces ~11% multiplicative bias (smearing correction is next step). Item_Fat_Content (p=0.446) and Weight_bin (p=0.715) confirmed non-significant by ANOVA — correctly dropped. Starchy Foods anomaly appears in both PyOD and residual analysis: consistent cross-notebook signal.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621024"/>
            <a:ext cx="4114800" cy="1207008"/>
          </a:xfrm>
          <a:prstGeom prst="roundRect">
            <a:avLst>
              <a:gd name="adj" fmla="val 5303"/>
            </a:avLst>
          </a:prstGeom>
          <a:solidFill>
            <a:srgbClr val="2A100A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7200" y="3675888"/>
            <a:ext cx="64008" cy="1097280"/>
          </a:xfrm>
          <a:prstGeom prst="rect">
            <a:avLst/>
          </a:prstGeom>
          <a:solidFill>
            <a:srgbClr val="8C7B72"/>
          </a:solidFill>
          <a:ln w="12700">
            <a:solidFill>
              <a:srgbClr val="8C7B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58368" y="373075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Next: nested CV + calibration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" y="4078224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pipeline: single holdout. Nested CV gives tighter generalisation bounds. Also: post-hoc Platt scaling or isotonic regression to remove log retransformation bias before reporting to stakeholders.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809744" y="3621024"/>
            <a:ext cx="4114800" cy="1207008"/>
          </a:xfrm>
          <a:prstGeom prst="roundRect">
            <a:avLst>
              <a:gd name="adj" fmla="val 5303"/>
            </a:avLst>
          </a:prstGeom>
          <a:solidFill>
            <a:srgbClr val="2A100A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09744" y="3675888"/>
            <a:ext cx="64008" cy="1097280"/>
          </a:xfrm>
          <a:prstGeom prst="rect">
            <a:avLst/>
          </a:prstGeom>
          <a:solidFill>
            <a:srgbClr val="8C7B72"/>
          </a:solidFill>
          <a:ln w="12700">
            <a:solidFill>
              <a:srgbClr val="8C7B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10912" y="373075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Next: expand anomaly categories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10912" y="4078224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Cat I (unusual outlet age patterns) and Cat J (weight outliers in food items). Connect category labels back to prediction notebook — test if PyOD-flagged rows carry higher RMSE (hypothesis: anomalies = hard-to-predict rows).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57200" y="46634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A1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1: Big-mart-sales-prediction.ipynb  ·  Part 2: Big-mart-sales-pyod.ipynb</a:t>
            </a:r>
            <a:endParaRPr lang="en-US" sz="900" dirty="0"/>
          </a:p>
        </p:txBody>
      </p:sp>
      <p:pic>
        <p:nvPicPr>
          <p:cNvPr id="30" name="Audio 29">
            <a:hlinkClick r:id="" action="ppaction://media"/>
            <a:extLst>
              <a:ext uri="{FF2B5EF4-FFF2-40B4-BE49-F238E27FC236}">
                <a16:creationId xmlns:a16="http://schemas.microsoft.com/office/drawing/2014/main" id="{B9F92219-8BD0-4BE8-94A3-060C5241366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76563" t="-76563" r="-76563" b="-76563"/>
          <a:stretch>
            <a:fillRect/>
          </a:stretch>
        </p:blipFill>
        <p:spPr>
          <a:xfrm>
            <a:off x="7539228" y="3538728"/>
            <a:ext cx="1543050" cy="154305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8960"/>
    </mc:Choice>
    <mc:Fallback>
      <p:transition spd="slow" advTm="4896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0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2185</Words>
  <Application>Microsoft Office PowerPoint</Application>
  <PresentationFormat>On-screen Show (16:9)</PresentationFormat>
  <Paragraphs>299</Paragraphs>
  <Slides>10</Slides>
  <Notes>10</Notes>
  <HiddenSlides>0</HiddenSlides>
  <MMClips>10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BigMart Sales — Prediction &amp; Anomaly Detection</dc:title>
  <dc:subject>PptxGenJS Presentation</dc:subject>
  <dc:creator>PptxGenJS</dc:creator>
  <cp:lastModifiedBy>gyan kannur</cp:lastModifiedBy>
  <cp:revision>7</cp:revision>
  <dcterms:created xsi:type="dcterms:W3CDTF">2026-06-27T19:44:19Z</dcterms:created>
  <dcterms:modified xsi:type="dcterms:W3CDTF">2026-08-21T23:28:16Z</dcterms:modified>
</cp:coreProperties>
</file>